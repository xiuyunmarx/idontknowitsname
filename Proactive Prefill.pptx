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3" r:id="rId3"/>
    <p:sldId id="257" r:id="rId4"/>
    <p:sldId id="258" r:id="rId5"/>
    <p:sldId id="259" r:id="rId6"/>
    <p:sldId id="260" r:id="rId7"/>
    <p:sldId id="262" r:id="rId8"/>
    <p:sldId id="261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901E3C-51EC-40DC-A6B9-FD69E2BBB0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316F5D-4794-4E92-87AB-737A5A8FE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101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E2E time, 8.50 → 8.35 s，−1.8%, determined by decode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316F5D-4794-4E92-87AB-737A5A8FE9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71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07802-5D1F-3060-8737-F55546CF33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0637DC-F3FC-83E6-5EAF-C41925C9E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AFF6C-2BFB-A596-D412-00EC4612F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D1AC5-CDBC-4605-8FC6-BAB9921F3A59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45766-A22B-A665-55CD-461BB7A93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1B6A13-F98A-96F9-DF23-93DDF2136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9721B-66FD-4107-A5EE-2EB1946D5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654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0FF53-F788-E7F4-4CC1-B597FC787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F808A-0BD3-FE41-2C0E-89524BB6E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C4838-6EF5-0018-6A0A-F749DD27F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D1AC5-CDBC-4605-8FC6-BAB9921F3A59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13281-2461-B72A-C0F1-4E1BDB5F2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B87EF-5335-B5D8-4525-96045EA23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9721B-66FD-4107-A5EE-2EB1946D5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435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C31DE-9C06-10C8-26B8-0CAD23E0B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123517-3F98-0C78-6E86-D39907ED44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3326C-064A-A599-19C2-991FA7E59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D1AC5-CDBC-4605-8FC6-BAB9921F3A59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34087-0824-A5F5-B327-C6D7F61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E33C4D-C0C9-CCC0-E041-D23C54E6B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9721B-66FD-4107-A5EE-2EB1946D5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313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3A0C4-3AF8-DFC2-431A-8F0A5970A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9A0C3-52C6-BEEA-9363-FF0E80801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79CCC8-77FA-886C-0EC1-4855A9B659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460B54-0794-D15D-056C-175571488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D1AC5-CDBC-4605-8FC6-BAB9921F3A59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497EF-B9AB-C39D-2414-8F25D013B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0DED0A-200F-09A9-A2BA-C62EE5E96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9721B-66FD-4107-A5EE-2EB1946D5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235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DFD4A-B782-9687-31C5-9E2A19914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0AD82A-2D5E-6F7F-C691-BE32BEE54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31FAB6-B811-2E6A-9FF1-627AD27F87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817B72-7750-03DA-4190-1BF2410605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D5CE3C-5D45-8EF3-4522-0F59CE506B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E51628-9F15-3813-A9AF-AF091B13E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D1AC5-CDBC-4605-8FC6-BAB9921F3A59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DADD48-8E80-FFA7-A399-EABA41463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F687C0-5390-5888-3864-BB352344D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9721B-66FD-4107-A5EE-2EB1946D5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18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A4574-406C-BBDD-F2C4-736C9D4F1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97BAE1-F35C-C7A3-C4BF-9518CBD3E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D1AC5-CDBC-4605-8FC6-BAB9921F3A59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35CCEE-DA1E-967D-DD45-3D5DA1C1A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95B5ED-B880-C25A-2473-5971479D9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9721B-66FD-4107-A5EE-2EB1946D5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437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3641DD-6B59-FE58-8F9C-FCDCFA9B8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D1AC5-CDBC-4605-8FC6-BAB9921F3A59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0F3D06-9F1F-814D-AB0D-5958013E4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0A470-66A8-FDF6-F8DE-BC35C53EB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9721B-66FD-4107-A5EE-2EB1946D5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386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1AB2D-6070-7B39-9EE6-9505653C8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F7299-FCDA-17A3-369B-847F9B497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EF6DA0-DBFC-7D7F-7178-E90E2D2112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4E6B24-A3C8-CEBC-2BB2-A35444230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D1AC5-CDBC-4605-8FC6-BAB9921F3A59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C5CB60-FCD2-FF20-1E4E-8AEA37C37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55262E-7D1B-8B8E-5DA2-E1B7782E8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9721B-66FD-4107-A5EE-2EB1946D5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072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02186-0887-4602-4236-9EE3A6C80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558B76-CE38-2AFF-20CC-9286F3FAF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C4613A-7E41-DE7A-1EC6-81DB687520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6FC59F-C18F-42A0-7958-0F24C4BF3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D1AC5-CDBC-4605-8FC6-BAB9921F3A59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9B0BD1-3613-B438-F6CD-DFD5CBBC8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62724F-ED81-72FD-5166-CC727AC7E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9721B-66FD-4107-A5EE-2EB1946D5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316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04063-BD00-1F8C-010A-156DD65E6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242F96-A607-6D19-CFB9-C84319AA24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C93D1-4079-18E4-0F57-9E523C928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D1AC5-CDBC-4605-8FC6-BAB9921F3A59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F83F3-C289-DEFA-0C68-0A8F8A4CE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184C3-0BF6-DD58-42F1-1D0FAF7D5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9721B-66FD-4107-A5EE-2EB1946D5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688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33F559-8F8F-F374-8835-2224CEC23C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4FAFED-1FEA-06D3-8CDC-991AF2C02D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20E37-6951-E2EF-4E9E-DC295D82E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D1AC5-CDBC-4605-8FC6-BAB9921F3A59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3F1FA-AB7F-EC3D-CDF9-DC033B9A5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5E1D8-2708-A883-1892-700F0C1AC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9721B-66FD-4107-A5EE-2EB1946D5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116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12143D-404B-25D3-8517-E3C1368C3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85BE9-035C-04D4-AAC9-E118211105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5EFA3-0BEE-6A6D-306F-EBF6E85B18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1D1AC5-CDBC-4605-8FC6-BAB9921F3A59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B1320-8C55-BC05-B96D-309BDD0CD5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4BFEB-1E4A-F3AC-4237-3AC43E6FB5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59721B-66FD-4107-A5EE-2EB1946D5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849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A239C-32CE-481E-4DD6-4C096CE051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Proactive Prefill for </a:t>
            </a:r>
            <a:r>
              <a:rPr lang="en-US" altLang="zh-CN" dirty="0" err="1"/>
              <a:t>byLLM</a:t>
            </a:r>
            <a:r>
              <a:rPr lang="en-US" altLang="zh-CN" dirty="0"/>
              <a:t> agent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D3E39A-6829-A123-B5F4-E9FB607969A0}"/>
              </a:ext>
            </a:extLst>
          </p:cNvPr>
          <p:cNvSpPr/>
          <p:nvPr/>
        </p:nvSpPr>
        <p:spPr>
          <a:xfrm>
            <a:off x="2533796" y="4585960"/>
            <a:ext cx="3022406" cy="439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Decode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198E76-E6FA-3B8D-AB16-0EE03AC2D295}"/>
              </a:ext>
            </a:extLst>
          </p:cNvPr>
          <p:cNvSpPr/>
          <p:nvPr/>
        </p:nvSpPr>
        <p:spPr>
          <a:xfrm>
            <a:off x="802718" y="4585960"/>
            <a:ext cx="1723119" cy="43975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Prefill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824983-093E-F226-579B-899143D2B037}"/>
              </a:ext>
            </a:extLst>
          </p:cNvPr>
          <p:cNvSpPr/>
          <p:nvPr/>
        </p:nvSpPr>
        <p:spPr>
          <a:xfrm>
            <a:off x="2644315" y="5025710"/>
            <a:ext cx="2085576" cy="43975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Prefill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5576F8-A934-8D68-C545-B8D4BAA9814A}"/>
              </a:ext>
            </a:extLst>
          </p:cNvPr>
          <p:cNvSpPr/>
          <p:nvPr/>
        </p:nvSpPr>
        <p:spPr>
          <a:xfrm>
            <a:off x="5556202" y="5032688"/>
            <a:ext cx="2198748" cy="439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Decode</a:t>
            </a:r>
            <a:endParaRPr lang="en-US" dirty="0"/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332CED8B-CD76-DE38-F0E6-8CCA12B4AC0A}"/>
              </a:ext>
            </a:extLst>
          </p:cNvPr>
          <p:cNvSpPr/>
          <p:nvPr/>
        </p:nvSpPr>
        <p:spPr>
          <a:xfrm rot="16200000">
            <a:off x="3004467" y="1898563"/>
            <a:ext cx="342028" cy="474552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9A42A9-8C5B-BCC2-85A9-35312444D8CA}"/>
              </a:ext>
            </a:extLst>
          </p:cNvPr>
          <p:cNvSpPr txBox="1"/>
          <p:nvPr/>
        </p:nvSpPr>
        <p:spPr>
          <a:xfrm>
            <a:off x="2193635" y="3730979"/>
            <a:ext cx="2076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foo(</a:t>
            </a:r>
            <a:r>
              <a:rPr lang="en-US" dirty="0" err="1"/>
              <a:t>arg</a:t>
            </a:r>
            <a:r>
              <a:rPr lang="en-US" dirty="0"/>
              <a:t>) -&gt; by </a:t>
            </a:r>
            <a:r>
              <a:rPr lang="en-US" dirty="0" err="1"/>
              <a:t>llm</a:t>
            </a:r>
            <a:r>
              <a:rPr lang="en-US" dirty="0"/>
              <a:t>()</a:t>
            </a: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C86F3537-08C0-DD2B-2D17-0B66E12E0130}"/>
              </a:ext>
            </a:extLst>
          </p:cNvPr>
          <p:cNvSpPr/>
          <p:nvPr/>
        </p:nvSpPr>
        <p:spPr>
          <a:xfrm rot="16200000">
            <a:off x="4891421" y="3403327"/>
            <a:ext cx="523511" cy="5003764"/>
          </a:xfrm>
          <a:prstGeom prst="leftBrace">
            <a:avLst>
              <a:gd name="adj1" fmla="val 8333"/>
              <a:gd name="adj2" fmla="val 4944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242276-8499-1D24-5B37-E135D6ECDCFE}"/>
              </a:ext>
            </a:extLst>
          </p:cNvPr>
          <p:cNvSpPr txBox="1"/>
          <p:nvPr/>
        </p:nvSpPr>
        <p:spPr>
          <a:xfrm>
            <a:off x="4223696" y="6166965"/>
            <a:ext cx="2099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bar(</a:t>
            </a:r>
            <a:r>
              <a:rPr lang="en-US" dirty="0" err="1"/>
              <a:t>arg</a:t>
            </a:r>
            <a:r>
              <a:rPr lang="en-US" dirty="0"/>
              <a:t>) -&gt; by </a:t>
            </a:r>
            <a:r>
              <a:rPr lang="en-US" dirty="0" err="1"/>
              <a:t>llm</a:t>
            </a:r>
            <a:r>
              <a:rPr lang="en-US" dirty="0"/>
              <a:t>()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07ECF5-6237-6DC3-6595-2CE2A8125813}"/>
              </a:ext>
            </a:extLst>
          </p:cNvPr>
          <p:cNvSpPr txBox="1"/>
          <p:nvPr/>
        </p:nvSpPr>
        <p:spPr>
          <a:xfrm>
            <a:off x="8420850" y="3776437"/>
            <a:ext cx="315502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 foo(</a:t>
            </a:r>
            <a:r>
              <a:rPr lang="en-US" dirty="0" err="1"/>
              <a:t>arg</a:t>
            </a:r>
            <a:r>
              <a:rPr lang="en-US" dirty="0"/>
              <a:t>) -&gt; by </a:t>
            </a:r>
            <a:r>
              <a:rPr lang="en-US" dirty="0" err="1"/>
              <a:t>llm</a:t>
            </a:r>
            <a:r>
              <a:rPr lang="en-US" dirty="0"/>
              <a:t>();</a:t>
            </a:r>
          </a:p>
          <a:p>
            <a:r>
              <a:rPr lang="en-US" dirty="0"/>
              <a:t>bar(</a:t>
            </a:r>
            <a:r>
              <a:rPr lang="en-US" dirty="0" err="1"/>
              <a:t>arg</a:t>
            </a:r>
            <a:r>
              <a:rPr lang="en-US" dirty="0"/>
              <a:t>) -&gt; by </a:t>
            </a:r>
            <a:r>
              <a:rPr lang="en-US" dirty="0" err="1"/>
              <a:t>llm</a:t>
            </a:r>
            <a:r>
              <a:rPr lang="en-US" dirty="0"/>
              <a:t>();</a:t>
            </a:r>
          </a:p>
          <a:p>
            <a:r>
              <a:rPr lang="en-US" dirty="0"/>
              <a:t>with entry{</a:t>
            </a:r>
          </a:p>
          <a:p>
            <a:r>
              <a:rPr lang="en-US" dirty="0"/>
              <a:t>     foo(arg1);</a:t>
            </a:r>
          </a:p>
          <a:p>
            <a:r>
              <a:rPr lang="en-US" dirty="0"/>
              <a:t>     bar(arg2);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769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E487D-5170-431C-E24C-71DC33844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2665A-755D-0E44-D65A-CEA619382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LLM integration into programming languages has become a growing trend, enabling developers to invoke LLMs as first-class program components rather than through standalone applications.</a:t>
            </a:r>
          </a:p>
          <a:p>
            <a:r>
              <a:rPr lang="en-US" dirty="0"/>
              <a:t>However, a gap remains between the programming runtime and the model-serving system: compile-time knowledge is not exposed to the serving engine, leaving opportunities for targeted optimization.</a:t>
            </a:r>
          </a:p>
        </p:txBody>
      </p:sp>
    </p:spTree>
    <p:extLst>
      <p:ext uri="{BB962C8B-B14F-4D97-AF65-F5344CB8AC3E}">
        <p14:creationId xmlns:p14="http://schemas.microsoft.com/office/powerpoint/2010/main" val="1070501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4E619-DAE7-DCA6-B071-9DED79D1B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E3F9A-BE29-966B-80F9-2FCCDCA77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 major part of prompt in </a:t>
            </a:r>
            <a:r>
              <a:rPr lang="en-US" dirty="0" err="1"/>
              <a:t>byLLM</a:t>
            </a:r>
            <a:r>
              <a:rPr lang="en-US" dirty="0"/>
              <a:t> framework can be deduced in compile time.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Input for a LLM call might be ready a long time before the call site, leaving opportunity to prefill them proactively.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Example: Arguments of h() is ready long before calling it. </a:t>
            </a:r>
          </a:p>
          <a:p>
            <a:pPr marL="0" indent="0">
              <a:buNone/>
            </a:pPr>
            <a:r>
              <a:rPr lang="en-US" dirty="0"/>
              <a:t>	a = f();</a:t>
            </a:r>
          </a:p>
          <a:p>
            <a:pPr marL="0" indent="0">
              <a:buNone/>
            </a:pPr>
            <a:r>
              <a:rPr lang="en-US" dirty="0"/>
              <a:t>	b = g();</a:t>
            </a:r>
          </a:p>
          <a:p>
            <a:pPr marL="0" indent="0">
              <a:buNone/>
            </a:pPr>
            <a:r>
              <a:rPr lang="en-US" dirty="0"/>
              <a:t>	/*Some code here…*/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ans</a:t>
            </a:r>
            <a:r>
              <a:rPr lang="en-US" dirty="0"/>
              <a:t> = h(a, b);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605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10B51-5D47-C20E-892C-63E594010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C8C96-6E01-5946-0D89-7F59F5645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Compiler-runtime co-design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Compile time: Derive the part of prompt that can be fixed. The provenance for each argument of </a:t>
            </a:r>
            <a:r>
              <a:rPr lang="en-US" dirty="0" err="1"/>
              <a:t>b</a:t>
            </a:r>
            <a:r>
              <a:rPr lang="en-US" altLang="zh-CN" dirty="0" err="1"/>
              <a:t>yLLM</a:t>
            </a:r>
            <a:r>
              <a:rPr lang="en-US" altLang="zh-CN" dirty="0"/>
              <a:t> function</a:t>
            </a:r>
            <a:r>
              <a:rPr lang="en-US" dirty="0"/>
              <a:t>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Runtime uses information derived in compile to decide what speculative inference state to materialize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Next-agent speculative pick for best-effort proactive prefilling. By adding a parallel no-thinking decode and directly get answer. </a:t>
            </a:r>
          </a:p>
        </p:txBody>
      </p:sp>
    </p:spTree>
    <p:extLst>
      <p:ext uri="{BB962C8B-B14F-4D97-AF65-F5344CB8AC3E}">
        <p14:creationId xmlns:p14="http://schemas.microsoft.com/office/powerpoint/2010/main" val="2287781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EBD6C-C2FA-9911-B970-AF9FEE337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2DE5D-FC5E-0FC6-B0BC-C3827C02D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Single Application Cold Start: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Multi-Tenant Cold Start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altLang="zh-CN" dirty="0"/>
              <a:t>Applications: </a:t>
            </a:r>
          </a:p>
          <a:p>
            <a:r>
              <a:rPr lang="en-US" altLang="zh-CN" dirty="0"/>
              <a:t>Deep Research; </a:t>
            </a:r>
          </a:p>
          <a:p>
            <a:r>
              <a:rPr lang="en-US" dirty="0" err="1"/>
              <a:t>InterCode</a:t>
            </a:r>
            <a:r>
              <a:rPr lang="en-US" dirty="0"/>
              <a:t>-SQL:  text-to-SQL with an execution-feedback repair loop over SQLite</a:t>
            </a:r>
          </a:p>
          <a:p>
            <a:r>
              <a:rPr lang="en-US" dirty="0" err="1"/>
              <a:t>HoVer</a:t>
            </a:r>
            <a:r>
              <a:rPr lang="en-US" dirty="0"/>
              <a:t>-style: many-hop claim verification agent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817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9FF2-F080-C92E-2496-CA5C35521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Agent Cold Start</a:t>
            </a: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70041A3E-AC0E-0B83-31DC-EC7186552E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205989"/>
              </p:ext>
            </p:extLst>
          </p:nvPr>
        </p:nvGraphicFramePr>
        <p:xfrm>
          <a:off x="838200" y="1874520"/>
          <a:ext cx="10109201" cy="3349752"/>
        </p:xfrm>
        <a:graphic>
          <a:graphicData uri="http://schemas.openxmlformats.org/drawingml/2006/table">
            <a:tbl>
              <a:tblPr/>
              <a:tblGrid>
                <a:gridCol w="16768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64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77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68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830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8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5153">
                <a:tc row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uncached</a:t>
                      </a: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tokens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TTFT (ms)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spec → spec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47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uncached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47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Spec → spec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47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Σ TTFT  [95% CI]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477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HoVer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2456 → 1428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760 → 552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1.38×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deep_search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3929 → 2367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-1562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1302 → 985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1.32×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intercode_sql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2176 → 1744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510 → 431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1.19×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2854 → 1846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857 → 656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-201.5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1.31×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2598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31C2F-AF60-6086-D0BF-F5A644237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Speculative next-agent pick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E4E9D-D115-BA57-192E-62D6B8A69A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zh-CN" dirty="0"/>
              <a:t>If selection is wrong, fixed system prompt can still be used.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dirty="0"/>
              <a:t>Here use a triage agent to test, one supervisor, 13 subagents, with visit [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en-US" altLang="zh-CN" dirty="0"/>
              <a:t>] by</a:t>
            </a:r>
          </a:p>
          <a:p>
            <a:pPr marL="0" indent="0">
              <a:buNone/>
            </a:pPr>
            <a:endParaRPr lang="en-US" altLang="zh-C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E92D428-A523-A793-4796-714F0A02DA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5171698"/>
              </p:ext>
            </p:extLst>
          </p:nvPr>
        </p:nvGraphicFramePr>
        <p:xfrm>
          <a:off x="838200" y="3429000"/>
          <a:ext cx="968767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9226">
                  <a:extLst>
                    <a:ext uri="{9D8B030D-6E8A-4147-A177-3AD203B41FA5}">
                      <a16:colId xmlns:a16="http://schemas.microsoft.com/office/drawing/2014/main" val="1964062767"/>
                    </a:ext>
                  </a:extLst>
                </a:gridCol>
                <a:gridCol w="3229226">
                  <a:extLst>
                    <a:ext uri="{9D8B030D-6E8A-4147-A177-3AD203B41FA5}">
                      <a16:colId xmlns:a16="http://schemas.microsoft.com/office/drawing/2014/main" val="2582392412"/>
                    </a:ext>
                  </a:extLst>
                </a:gridCol>
                <a:gridCol w="3229226">
                  <a:extLst>
                    <a:ext uri="{9D8B030D-6E8A-4147-A177-3AD203B41FA5}">
                      <a16:colId xmlns:a16="http://schemas.microsoft.com/office/drawing/2014/main" val="7399505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Resolve_* TTFT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Subagent Token Cached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7952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Probe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84</a:t>
                      </a:r>
                      <a:r>
                        <a:rPr lang="en-US" altLang="zh-CN" dirty="0"/>
                        <a:t>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6527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No-Probe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238</a:t>
                      </a:r>
                      <a:r>
                        <a:rPr lang="en-US" altLang="zh-CN" dirty="0"/>
                        <a:t>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823806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27E924E-A350-A029-9CB0-D5C6AA5AE0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7078969"/>
              </p:ext>
            </p:extLst>
          </p:nvPr>
        </p:nvGraphicFramePr>
        <p:xfrm>
          <a:off x="838200" y="4805521"/>
          <a:ext cx="9687678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9226">
                  <a:extLst>
                    <a:ext uri="{9D8B030D-6E8A-4147-A177-3AD203B41FA5}">
                      <a16:colId xmlns:a16="http://schemas.microsoft.com/office/drawing/2014/main" val="1964062767"/>
                    </a:ext>
                  </a:extLst>
                </a:gridCol>
                <a:gridCol w="3229226">
                  <a:extLst>
                    <a:ext uri="{9D8B030D-6E8A-4147-A177-3AD203B41FA5}">
                      <a16:colId xmlns:a16="http://schemas.microsoft.com/office/drawing/2014/main" val="2582392412"/>
                    </a:ext>
                  </a:extLst>
                </a:gridCol>
                <a:gridCol w="3229226">
                  <a:extLst>
                    <a:ext uri="{9D8B030D-6E8A-4147-A177-3AD203B41FA5}">
                      <a16:colId xmlns:a16="http://schemas.microsoft.com/office/drawing/2014/main" val="7399505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Router TTFT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Router Token Cached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7952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Probe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110.1ms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6527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No-Probe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110.6ms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823806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AC952E9-75B3-481B-0127-E9AAD099F25C}"/>
              </a:ext>
            </a:extLst>
          </p:cNvPr>
          <p:cNvSpPr txBox="1"/>
          <p:nvPr/>
        </p:nvSpPr>
        <p:spPr>
          <a:xfrm>
            <a:off x="781778" y="6071632"/>
            <a:ext cx="8836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Router not touched, because it is the very first LLM call, no space for proactive prefilling.</a:t>
            </a:r>
          </a:p>
        </p:txBody>
      </p:sp>
    </p:spTree>
    <p:extLst>
      <p:ext uri="{BB962C8B-B14F-4D97-AF65-F5344CB8AC3E}">
        <p14:creationId xmlns:p14="http://schemas.microsoft.com/office/powerpoint/2010/main" val="227883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BB2FE-8232-8685-36AC-F716BAD80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Concurrent cold start (Per-instance APC)</a:t>
            </a: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062F95F3-6354-D8AB-34E9-3AEEE88DD4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2279251"/>
              </p:ext>
            </p:extLst>
          </p:nvPr>
        </p:nvGraphicFramePr>
        <p:xfrm>
          <a:off x="838200" y="1825625"/>
          <a:ext cx="10160000" cy="3090672"/>
        </p:xfrm>
        <a:graphic>
          <a:graphicData uri="http://schemas.openxmlformats.org/drawingml/2006/table">
            <a:tbl>
              <a:tblPr/>
              <a:tblGrid>
                <a:gridCol w="13153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6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71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92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235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49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339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885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7200">
                <a:tc row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/ peak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 fraction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 → spec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uncached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 workflow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TTFT (ms)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per-call latency, off → spec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 → spec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47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 [95% CI]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47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47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TTFT p95 (ms)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47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TBT (ms)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47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poisson 0.5/s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 / 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37.4% → 45.5%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1294 → 1185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-108.4  [+40.5, +181.8]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1.09×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232 → 226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23.7 → 24.6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uniform 3 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 / 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37.8% → 38.7%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1619 → 1546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-72.8  [−15.4, +162.5]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307 → 289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31.3 → 32.2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burst 1 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 / 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37.6% → 39.0%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1836 → 1707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-128.3  [+34.8, +228.5]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1.08×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457 → 355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32.8 → 33.6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214B706-19FE-363E-CDD2-E7FBB77E6D83}"/>
              </a:ext>
            </a:extLst>
          </p:cNvPr>
          <p:cNvSpPr txBox="1"/>
          <p:nvPr/>
        </p:nvSpPr>
        <p:spPr>
          <a:xfrm>
            <a:off x="711200" y="5353050"/>
            <a:ext cx="1028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Earning decreased because idle slot is fewer.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formal Evaluation, we may have a sweep of workload. </a:t>
            </a:r>
          </a:p>
        </p:txBody>
      </p:sp>
    </p:spTree>
    <p:extLst>
      <p:ext uri="{BB962C8B-B14F-4D97-AF65-F5344CB8AC3E}">
        <p14:creationId xmlns:p14="http://schemas.microsoft.com/office/powerpoint/2010/main" val="795112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3FB89-9244-358C-5FF0-9706A028E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Plan</a:t>
            </a:r>
            <a:r>
              <a:rPr lang="en-US" altLang="zh-CN" dirty="0"/>
              <a:t>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80940-EAFB-7DB2-55F1-6C4235CEB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Expand the experiment, add some ablations.</a:t>
            </a:r>
          </a:p>
          <a:p>
            <a:r>
              <a:rPr lang="en-US" dirty="0"/>
              <a:t>Or: first write draft paper, add </a:t>
            </a:r>
            <a:r>
              <a:rPr lang="en-US"/>
              <a:t>designs </a:t>
            </a:r>
            <a:r>
              <a:rPr lang="en-US" altLang="zh-CN"/>
              <a:t>and</a:t>
            </a:r>
            <a:r>
              <a:rPr lang="en-US"/>
              <a:t> </a:t>
            </a:r>
            <a:r>
              <a:rPr lang="en-US" dirty="0"/>
              <a:t>experiments accordingly?</a:t>
            </a:r>
          </a:p>
        </p:txBody>
      </p:sp>
    </p:spTree>
    <p:extLst>
      <p:ext uri="{BB962C8B-B14F-4D97-AF65-F5344CB8AC3E}">
        <p14:creationId xmlns:p14="http://schemas.microsoft.com/office/powerpoint/2010/main" val="3948570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ambria"/>
        <a:ea typeface="宋体"/>
        <a:cs typeface=""/>
      </a:majorFont>
      <a:minorFont>
        <a:latin typeface="Cambri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</TotalTime>
  <Words>652</Words>
  <Application>Microsoft Office PowerPoint</Application>
  <PresentationFormat>Widescreen</PresentationFormat>
  <Paragraphs>140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Wingdings</vt:lpstr>
      <vt:lpstr>Office Theme</vt:lpstr>
      <vt:lpstr>Proactive Prefill for byLLM agent</vt:lpstr>
      <vt:lpstr>Story</vt:lpstr>
      <vt:lpstr>Observations</vt:lpstr>
      <vt:lpstr>Design</vt:lpstr>
      <vt:lpstr>Evaluations</vt:lpstr>
      <vt:lpstr>Single Agent Cold Start</vt:lpstr>
      <vt:lpstr>Speculative next-agent pick </vt:lpstr>
      <vt:lpstr>Concurrent cold start (Per-instance APC)</vt:lpstr>
      <vt:lpstr>Next Plan?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筱宇 马</dc:creator>
  <cp:lastModifiedBy>筱宇 马</cp:lastModifiedBy>
  <cp:revision>41</cp:revision>
  <dcterms:created xsi:type="dcterms:W3CDTF">2026-08-25T14:58:06Z</dcterms:created>
  <dcterms:modified xsi:type="dcterms:W3CDTF">2026-08-26T14:32:25Z</dcterms:modified>
</cp:coreProperties>
</file>