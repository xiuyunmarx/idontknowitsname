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9" r:id="rId5"/>
    <p:sldId id="262" r:id="rId6"/>
    <p:sldId id="272" r:id="rId7"/>
    <p:sldId id="261" r:id="rId8"/>
    <p:sldId id="263" r:id="rId9"/>
    <p:sldId id="270" r:id="rId10"/>
    <p:sldId id="264" r:id="rId11"/>
    <p:sldId id="266" r:id="rId12"/>
    <p:sldId id="265" r:id="rId13"/>
    <p:sldId id="267"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94633" autoAdjust="0"/>
  </p:normalViewPr>
  <p:slideViewPr>
    <p:cSldViewPr snapToGrid="0">
      <p:cViewPr varScale="1">
        <p:scale>
          <a:sx n="91" d="100"/>
          <a:sy n="91" d="100"/>
        </p:scale>
        <p:origin x="764" y="44"/>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72" d="100"/>
          <a:sy n="72" d="100"/>
        </p:scale>
        <p:origin x="3524" y="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DB47B-BC53-4C43-BCD3-B0D6655586D7}"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C77096-4A6B-44AA-83C6-CE4CDC0B503E}" type="slidenum">
              <a:rPr lang="en-US" smtClean="0"/>
              <a:t>‹#›</a:t>
            </a:fld>
            <a:endParaRPr lang="en-US"/>
          </a:p>
        </p:txBody>
      </p:sp>
    </p:spTree>
    <p:extLst>
      <p:ext uri="{BB962C8B-B14F-4D97-AF65-F5344CB8AC3E}">
        <p14:creationId xmlns:p14="http://schemas.microsoft.com/office/powerpoint/2010/main" val="1690733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C77096-4A6B-44AA-83C6-CE4CDC0B503E}" type="slidenum">
              <a:rPr lang="en-US" smtClean="0"/>
              <a:t>2</a:t>
            </a:fld>
            <a:endParaRPr lang="en-US"/>
          </a:p>
        </p:txBody>
      </p:sp>
    </p:spTree>
    <p:extLst>
      <p:ext uri="{BB962C8B-B14F-4D97-AF65-F5344CB8AC3E}">
        <p14:creationId xmlns:p14="http://schemas.microsoft.com/office/powerpoint/2010/main" val="2412101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bindings enable reordering without changing parameter identity; observed stability, sharing, and growth guide the serialization order for better prefix reuse.</a:t>
            </a:r>
          </a:p>
        </p:txBody>
      </p:sp>
      <p:sp>
        <p:nvSpPr>
          <p:cNvPr id="4" name="Slide Number Placeholder 3"/>
          <p:cNvSpPr>
            <a:spLocks noGrp="1"/>
          </p:cNvSpPr>
          <p:nvPr>
            <p:ph type="sldNum" sz="quarter" idx="5"/>
          </p:nvPr>
        </p:nvSpPr>
        <p:spPr/>
        <p:txBody>
          <a:bodyPr/>
          <a:lstStyle/>
          <a:p>
            <a:fld id="{A6C77096-4A6B-44AA-83C6-CE4CDC0B503E}" type="slidenum">
              <a:rPr lang="en-US" smtClean="0"/>
              <a:t>7</a:t>
            </a:fld>
            <a:endParaRPr lang="en-US"/>
          </a:p>
        </p:txBody>
      </p:sp>
    </p:spTree>
    <p:extLst>
      <p:ext uri="{BB962C8B-B14F-4D97-AF65-F5344CB8AC3E}">
        <p14:creationId xmlns:p14="http://schemas.microsoft.com/office/powerpoint/2010/main" val="111996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C77096-4A6B-44AA-83C6-CE4CDC0B503E}" type="slidenum">
              <a:rPr lang="en-US" smtClean="0"/>
              <a:t>14</a:t>
            </a:fld>
            <a:endParaRPr lang="en-US"/>
          </a:p>
        </p:txBody>
      </p:sp>
    </p:spTree>
    <p:extLst>
      <p:ext uri="{BB962C8B-B14F-4D97-AF65-F5344CB8AC3E}">
        <p14:creationId xmlns:p14="http://schemas.microsoft.com/office/powerpoint/2010/main" val="2652411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7744-30CB-DBE0-0134-76CF717122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CDD9E2-94D6-ACEE-66B8-B2BD2C6CA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BE8F39-1767-5CFD-1017-7EF0E236B3BF}"/>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5" name="Footer Placeholder 4">
            <a:extLst>
              <a:ext uri="{FF2B5EF4-FFF2-40B4-BE49-F238E27FC236}">
                <a16:creationId xmlns:a16="http://schemas.microsoft.com/office/drawing/2014/main" id="{ACC22BDC-EDFE-BFE7-7EAE-4EEA635824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FA077F-6E73-C662-2FA5-2B21A7C7DC3C}"/>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1245464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EB964-6217-E687-60AE-4B0DE3F83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57D9D0-4313-3F7D-98E2-94BFFD0321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15C86-44F4-831A-BC06-899608375CFF}"/>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5" name="Footer Placeholder 4">
            <a:extLst>
              <a:ext uri="{FF2B5EF4-FFF2-40B4-BE49-F238E27FC236}">
                <a16:creationId xmlns:a16="http://schemas.microsoft.com/office/drawing/2014/main" id="{A11AC2CA-2B37-294D-315F-4BD5D72B3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03E6A-B0A9-1694-3C9A-C9F086B8345A}"/>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1452975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ED166-A05E-3789-0F98-1FF551359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CE2D18-6E46-07ED-F9AF-6A9CA9184F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B9FE99-292B-7FEC-807A-2B0C7BE6BA32}"/>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5" name="Footer Placeholder 4">
            <a:extLst>
              <a:ext uri="{FF2B5EF4-FFF2-40B4-BE49-F238E27FC236}">
                <a16:creationId xmlns:a16="http://schemas.microsoft.com/office/drawing/2014/main" id="{6548156C-C23A-509C-A1A4-E9079E1947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5B46A-ED00-52DD-6531-37F152D5AE5B}"/>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1650595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6B27B-139D-526E-A58C-3BA40539A5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32202F-AC52-36E6-D004-603B9308C2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89F158-F6D9-DF0F-E24C-0E4C9C1D47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9C4DD4-D11A-E21A-3F68-A4CEA0EB8CF6}"/>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6" name="Footer Placeholder 5">
            <a:extLst>
              <a:ext uri="{FF2B5EF4-FFF2-40B4-BE49-F238E27FC236}">
                <a16:creationId xmlns:a16="http://schemas.microsoft.com/office/drawing/2014/main" id="{483B55CC-5348-F235-7267-9B9401487A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8CA01C-341E-C952-559C-91ACB343D566}"/>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403330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6A23F-44AE-CA02-A799-6827687178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E2E919-BF52-CF8B-0944-3593C9C2C0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262B4B-F151-7D14-856F-4F1734B40C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FF7B32-B872-4C78-7324-587734E98F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3E9700-D676-A386-6EC8-2983F1C09B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995F96-E08C-BA24-8858-7732D0A753A1}"/>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8" name="Footer Placeholder 7">
            <a:extLst>
              <a:ext uri="{FF2B5EF4-FFF2-40B4-BE49-F238E27FC236}">
                <a16:creationId xmlns:a16="http://schemas.microsoft.com/office/drawing/2014/main" id="{00B8BCA8-B2E8-F20F-DEAC-71274913BD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997AE9-534C-F600-A3A0-A51C7D57AF49}"/>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2448885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15718-AC90-E7BF-8D75-D903BAA336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206DDC-336F-3FBD-5949-CA5870362948}"/>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4" name="Footer Placeholder 3">
            <a:extLst>
              <a:ext uri="{FF2B5EF4-FFF2-40B4-BE49-F238E27FC236}">
                <a16:creationId xmlns:a16="http://schemas.microsoft.com/office/drawing/2014/main" id="{C48A11FA-7022-E558-0865-1459ED93D1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7B8597-4962-B001-4214-7B84C184AD7D}"/>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280753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F1529D-DF8A-CD4F-95D8-49E2403BE9DB}"/>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3" name="Footer Placeholder 2">
            <a:extLst>
              <a:ext uri="{FF2B5EF4-FFF2-40B4-BE49-F238E27FC236}">
                <a16:creationId xmlns:a16="http://schemas.microsoft.com/office/drawing/2014/main" id="{83D45362-6CC7-F7DE-B7C2-2AA82478F0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1F65A8-75DE-737A-8485-934E50B47F65}"/>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315763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F18C5-F4BA-74FA-10BC-96D9F54A27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DD5425-F009-6D08-C987-32F621B76C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494634-B2B9-AC26-D63F-A312D0F057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0826A0-B287-9F69-29B1-E482BA77156C}"/>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6" name="Footer Placeholder 5">
            <a:extLst>
              <a:ext uri="{FF2B5EF4-FFF2-40B4-BE49-F238E27FC236}">
                <a16:creationId xmlns:a16="http://schemas.microsoft.com/office/drawing/2014/main" id="{5911A300-4343-4E20-26E4-4286C649C4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7184F-1F57-7937-2F67-1FA96737387E}"/>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1967891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C9D03-16DB-9152-98FF-F4539BC42C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669CCC-88DD-EF7F-BEBE-FCF9AB688E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C9777E-FC67-4C30-0DF0-C36E4943AC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D0F97E-C770-A8C3-B301-421AA5F23F93}"/>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6" name="Footer Placeholder 5">
            <a:extLst>
              <a:ext uri="{FF2B5EF4-FFF2-40B4-BE49-F238E27FC236}">
                <a16:creationId xmlns:a16="http://schemas.microsoft.com/office/drawing/2014/main" id="{306A1E4E-F7B8-818E-79CD-BDD15A66F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3A430A-2F6B-3F21-5CD9-AC2894E9AE09}"/>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1405020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83E9F-B56C-47D4-1383-93750B4E47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295173-BE8C-4D52-8669-8DE2BCE830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9CB87D-BD24-1D39-D53F-C64BDC2C2A4D}"/>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5" name="Footer Placeholder 4">
            <a:extLst>
              <a:ext uri="{FF2B5EF4-FFF2-40B4-BE49-F238E27FC236}">
                <a16:creationId xmlns:a16="http://schemas.microsoft.com/office/drawing/2014/main" id="{18FE33EB-744C-69F2-6125-3BF49FC87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6632E9-1E5A-B9DB-E688-93A7ED358554}"/>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2598931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EACA6C-7CAE-E886-89E3-D984FC154B1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4FA0EA-C044-C037-4EA1-66931EFADE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2E223-DC78-AEC3-275B-8AB30CEA65E7}"/>
              </a:ext>
            </a:extLst>
          </p:cNvPr>
          <p:cNvSpPr>
            <a:spLocks noGrp="1"/>
          </p:cNvSpPr>
          <p:nvPr>
            <p:ph type="dt" sz="half" idx="10"/>
          </p:nvPr>
        </p:nvSpPr>
        <p:spPr/>
        <p:txBody>
          <a:bodyPr/>
          <a:lstStyle/>
          <a:p>
            <a:fld id="{385404B4-0DF9-4722-854F-DCD0A62EC9C6}" type="datetimeFigureOut">
              <a:rPr lang="en-US" smtClean="0"/>
              <a:t>9/11/2026</a:t>
            </a:fld>
            <a:endParaRPr lang="en-US"/>
          </a:p>
        </p:txBody>
      </p:sp>
      <p:sp>
        <p:nvSpPr>
          <p:cNvPr id="5" name="Footer Placeholder 4">
            <a:extLst>
              <a:ext uri="{FF2B5EF4-FFF2-40B4-BE49-F238E27FC236}">
                <a16:creationId xmlns:a16="http://schemas.microsoft.com/office/drawing/2014/main" id="{023993C0-CDEC-3A0B-F6FB-FD6BD437D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E05BCB-B8BA-877E-3BCE-A09ACD89BE7E}"/>
              </a:ext>
            </a:extLst>
          </p:cNvPr>
          <p:cNvSpPr>
            <a:spLocks noGrp="1"/>
          </p:cNvSpPr>
          <p:nvPr>
            <p:ph type="sldNum" sz="quarter" idx="12"/>
          </p:nvPr>
        </p:nvSpPr>
        <p:spPr/>
        <p:txBody>
          <a:bodyPr/>
          <a:lstStyle/>
          <a:p>
            <a:fld id="{FFD0331F-124C-4217-838E-D9EA7A95626E}" type="slidenum">
              <a:rPr lang="en-US" smtClean="0"/>
              <a:t>‹#›</a:t>
            </a:fld>
            <a:endParaRPr lang="en-US"/>
          </a:p>
        </p:txBody>
      </p:sp>
    </p:spTree>
    <p:extLst>
      <p:ext uri="{BB962C8B-B14F-4D97-AF65-F5344CB8AC3E}">
        <p14:creationId xmlns:p14="http://schemas.microsoft.com/office/powerpoint/2010/main" val="63040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0566A2-839B-CF6C-8663-DE7A9FFE16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12DB02-269E-FDA4-AD87-39B41CD05E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89CDE-721C-0F8E-663C-8E99ECCD03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5404B4-0DF9-4722-854F-DCD0A62EC9C6}" type="datetimeFigureOut">
              <a:rPr lang="en-US" smtClean="0"/>
              <a:t>9/11/2026</a:t>
            </a:fld>
            <a:endParaRPr lang="en-US"/>
          </a:p>
        </p:txBody>
      </p:sp>
      <p:sp>
        <p:nvSpPr>
          <p:cNvPr id="5" name="Footer Placeholder 4">
            <a:extLst>
              <a:ext uri="{FF2B5EF4-FFF2-40B4-BE49-F238E27FC236}">
                <a16:creationId xmlns:a16="http://schemas.microsoft.com/office/drawing/2014/main" id="{9CB79AAA-5CB8-FF0E-D2CA-22E1444A5C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E333EE-BA87-3E06-CB13-33B1A67356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D0331F-124C-4217-838E-D9EA7A95626E}" type="slidenum">
              <a:rPr lang="en-US" smtClean="0"/>
              <a:t>‹#›</a:t>
            </a:fld>
            <a:endParaRPr lang="en-US"/>
          </a:p>
        </p:txBody>
      </p:sp>
    </p:spTree>
    <p:extLst>
      <p:ext uri="{BB962C8B-B14F-4D97-AF65-F5344CB8AC3E}">
        <p14:creationId xmlns:p14="http://schemas.microsoft.com/office/powerpoint/2010/main" val="3795162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B07C-BBBE-DB51-F661-B4848C8F2A7F}"/>
              </a:ext>
            </a:extLst>
          </p:cNvPr>
          <p:cNvSpPr>
            <a:spLocks noGrp="1"/>
          </p:cNvSpPr>
          <p:nvPr>
            <p:ph type="ctrTitle"/>
          </p:nvPr>
        </p:nvSpPr>
        <p:spPr/>
        <p:txBody>
          <a:bodyPr/>
          <a:lstStyle/>
          <a:p>
            <a:r>
              <a:rPr lang="en-US" dirty="0"/>
              <a:t>Efficient execution of structured LLM agents</a:t>
            </a:r>
            <a:endParaRPr lang="en-US" noProof="0" dirty="0"/>
          </a:p>
        </p:txBody>
      </p:sp>
      <p:sp>
        <p:nvSpPr>
          <p:cNvPr id="3" name="Subtitle 2">
            <a:extLst>
              <a:ext uri="{FF2B5EF4-FFF2-40B4-BE49-F238E27FC236}">
                <a16:creationId xmlns:a16="http://schemas.microsoft.com/office/drawing/2014/main" id="{378E53A4-0FEF-EE6A-8BD9-9330B20997DD}"/>
              </a:ext>
            </a:extLst>
          </p:cNvPr>
          <p:cNvSpPr>
            <a:spLocks noGrp="1"/>
          </p:cNvSpPr>
          <p:nvPr>
            <p:ph type="subTitle" idx="1"/>
          </p:nvPr>
        </p:nvSpPr>
        <p:spPr/>
        <p:txBody>
          <a:bodyPr/>
          <a:lstStyle/>
          <a:p>
            <a:r>
              <a:rPr lang="en-US" b="1" dirty="0">
                <a:solidFill>
                  <a:srgbClr val="FF0000"/>
                </a:solidFill>
              </a:rPr>
              <a:t>compiler-generated prompt has inherent heterogeneity</a:t>
            </a:r>
          </a:p>
          <a:p>
            <a:r>
              <a:rPr lang="en-US" b="1" dirty="0">
                <a:solidFill>
                  <a:srgbClr val="FF0000"/>
                </a:solidFill>
              </a:rPr>
              <a:t>Recovering and exploiting the heterogeneity unlocks efficient KV cache management </a:t>
            </a:r>
          </a:p>
        </p:txBody>
      </p:sp>
    </p:spTree>
    <p:extLst>
      <p:ext uri="{BB962C8B-B14F-4D97-AF65-F5344CB8AC3E}">
        <p14:creationId xmlns:p14="http://schemas.microsoft.com/office/powerpoint/2010/main" val="289051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3943-8FA3-2488-CABA-B4E0AB2C5922}"/>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28F85F9E-2A74-67ED-CC75-792B4D9EEDDB}"/>
              </a:ext>
            </a:extLst>
          </p:cNvPr>
          <p:cNvSpPr>
            <a:spLocks noGrp="1"/>
          </p:cNvSpPr>
          <p:nvPr>
            <p:ph idx="1"/>
          </p:nvPr>
        </p:nvSpPr>
        <p:spPr/>
        <p:txBody>
          <a:bodyPr>
            <a:normAutofit fontScale="92500"/>
          </a:bodyPr>
          <a:lstStyle/>
          <a:p>
            <a:pPr marL="514350" indent="-514350">
              <a:buFont typeface="+mj-lt"/>
              <a:buAutoNum type="arabicPeriod"/>
            </a:pPr>
            <a:r>
              <a:rPr lang="en-US" dirty="0"/>
              <a:t>Agent-serving systems such as PBKV, Pythia, </a:t>
            </a:r>
            <a:r>
              <a:rPr lang="en-US" dirty="0" err="1"/>
              <a:t>CacheScout</a:t>
            </a:r>
            <a:r>
              <a:rPr lang="en-US" dirty="0"/>
              <a:t>, and </a:t>
            </a:r>
            <a:r>
              <a:rPr lang="en-US" dirty="0" err="1"/>
              <a:t>KVFlow</a:t>
            </a:r>
            <a:r>
              <a:rPr lang="en-US" dirty="0"/>
              <a:t> improve KV-cache management by exploiting knowledge of future agent execution. They obtain this information from execution histories, workflow descriptions, or external annotations.</a:t>
            </a:r>
          </a:p>
          <a:p>
            <a:pPr marL="514350" indent="-514350">
              <a:buFont typeface="+mj-lt"/>
              <a:buAutoNum type="arabicPeriod"/>
            </a:pPr>
            <a:r>
              <a:rPr lang="en-US" dirty="0"/>
              <a:t>Meanwhile, agent frameworks increasingly allow developers to express LLM calls in code, which the compiler or runtime lowers code into model prompt. These generated prompts are not free text, they have systematic structure given by runtime</a:t>
            </a:r>
            <a:r>
              <a:rPr lang="en-US" altLang="zh-CN" dirty="0"/>
              <a:t>/compiler. </a:t>
            </a:r>
            <a:endParaRPr lang="en-US" dirty="0"/>
          </a:p>
          <a:p>
            <a:pPr marL="514350" indent="-514350">
              <a:buFont typeface="+mj-lt"/>
              <a:buAutoNum type="arabicPeriod"/>
            </a:pPr>
            <a:r>
              <a:rPr lang="en-US" dirty="0"/>
              <a:t>Existing serving engine treats compiler-generated prompt as opaque request</a:t>
            </a:r>
            <a:r>
              <a:rPr lang="en-US" altLang="zh-CN" dirty="0"/>
              <a:t>.</a:t>
            </a:r>
            <a:r>
              <a:rPr lang="en-US" dirty="0"/>
              <a:t> This creates a gap between the program that generates requests and the information available to serve them efficiently.</a:t>
            </a:r>
          </a:p>
        </p:txBody>
      </p:sp>
    </p:spTree>
    <p:extLst>
      <p:ext uri="{BB962C8B-B14F-4D97-AF65-F5344CB8AC3E}">
        <p14:creationId xmlns:p14="http://schemas.microsoft.com/office/powerpoint/2010/main" val="3879651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6CEAF-2F87-5388-E331-C569599629EB}"/>
              </a:ext>
            </a:extLst>
          </p:cNvPr>
          <p:cNvSpPr>
            <a:spLocks noGrp="1"/>
          </p:cNvSpPr>
          <p:nvPr>
            <p:ph type="title"/>
          </p:nvPr>
        </p:nvSpPr>
        <p:spPr/>
        <p:txBody>
          <a:bodyPr/>
          <a:lstStyle/>
          <a:p>
            <a:r>
              <a:rPr lang="en-US" altLang="zh-CN" dirty="0"/>
              <a:t>Insights</a:t>
            </a:r>
            <a:endParaRPr lang="en-US" dirty="0"/>
          </a:p>
        </p:txBody>
      </p:sp>
      <p:sp>
        <p:nvSpPr>
          <p:cNvPr id="3" name="Content Placeholder 2">
            <a:extLst>
              <a:ext uri="{FF2B5EF4-FFF2-40B4-BE49-F238E27FC236}">
                <a16:creationId xmlns:a16="http://schemas.microsoft.com/office/drawing/2014/main" id="{2A7A2870-23E1-0AD7-374C-01B446D93460}"/>
              </a:ext>
            </a:extLst>
          </p:cNvPr>
          <p:cNvSpPr>
            <a:spLocks noGrp="1"/>
          </p:cNvSpPr>
          <p:nvPr>
            <p:ph idx="1"/>
          </p:nvPr>
        </p:nvSpPr>
        <p:spPr/>
        <p:txBody>
          <a:bodyPr>
            <a:normAutofit fontScale="92500" lnSpcReduction="10000"/>
          </a:bodyPr>
          <a:lstStyle/>
          <a:p>
            <a:r>
              <a:rPr lang="en-US" b="1" dirty="0">
                <a:solidFill>
                  <a:srgbClr val="FF0000"/>
                </a:solidFill>
              </a:rPr>
              <a:t>Components within a compiler-generated prompt have different sharing scopes and lifetimes.</a:t>
            </a:r>
            <a:r>
              <a:rPr lang="en-US" dirty="0">
                <a:solidFill>
                  <a:srgbClr val="FF0000"/>
                </a:solidFill>
              </a:rPr>
              <a:t> </a:t>
            </a:r>
            <a:r>
              <a:rPr lang="en-US" altLang="zh-CN" dirty="0">
                <a:solidFill>
                  <a:srgbClr val="FF0000"/>
                </a:solidFill>
              </a:rPr>
              <a:t>Some </a:t>
            </a:r>
            <a:r>
              <a:rPr lang="en-US" dirty="0">
                <a:solidFill>
                  <a:srgbClr val="FF0000"/>
                </a:solidFill>
              </a:rPr>
              <a:t>components may remain fixed across invocations, some are shared across call sites, and some can grow or be replaced as execution progresses. </a:t>
            </a:r>
            <a:endParaRPr lang="en-US" b="1" dirty="0">
              <a:solidFill>
                <a:srgbClr val="FF0000"/>
              </a:solidFill>
            </a:endParaRPr>
          </a:p>
          <a:p>
            <a:pPr lvl="0"/>
            <a:r>
              <a:rPr lang="en-US" b="1" dirty="0"/>
              <a:t>Compiler-generated prompts carry implicit program semantics.</a:t>
            </a:r>
            <a:r>
              <a:rPr lang="en-US" dirty="0"/>
              <a:t> Their structure reflects the program constructs that produced them, making requests themselves a source of information about agent execution. </a:t>
            </a:r>
          </a:p>
          <a:p>
            <a:r>
              <a:rPr lang="en-US" b="1" dirty="0"/>
              <a:t>The heterogeneity within the prompt and agent execution information provide new signals for KV-cache management. </a:t>
            </a:r>
            <a:r>
              <a:rPr lang="en-US" dirty="0"/>
              <a:t>More efficient KV reuse depends on understanding how prompt components evolve and anticipating future access patterns.</a:t>
            </a:r>
            <a:endParaRPr lang="en-US" b="1" dirty="0"/>
          </a:p>
        </p:txBody>
      </p:sp>
    </p:spTree>
    <p:extLst>
      <p:ext uri="{BB962C8B-B14F-4D97-AF65-F5344CB8AC3E}">
        <p14:creationId xmlns:p14="http://schemas.microsoft.com/office/powerpoint/2010/main" val="1294485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80D75-B01B-A142-C3D2-E335C37BDAE7}"/>
              </a:ext>
            </a:extLst>
          </p:cNvPr>
          <p:cNvSpPr>
            <a:spLocks noGrp="1"/>
          </p:cNvSpPr>
          <p:nvPr>
            <p:ph type="title"/>
          </p:nvPr>
        </p:nvSpPr>
        <p:spPr/>
        <p:txBody>
          <a:bodyPr/>
          <a:lstStyle/>
          <a:p>
            <a:r>
              <a:rPr lang="en-US" dirty="0"/>
              <a:t>Example of heterogeneity within prompt</a:t>
            </a:r>
            <a:br>
              <a:rPr lang="en-US" dirty="0"/>
            </a:br>
            <a:r>
              <a:rPr lang="en-US" dirty="0"/>
              <a:t>(This is a LLM </a:t>
            </a:r>
            <a:r>
              <a:rPr lang="en-US" dirty="0" err="1"/>
              <a:t>callsite</a:t>
            </a:r>
            <a:r>
              <a:rPr lang="en-US" dirty="0"/>
              <a:t> in code agent)</a:t>
            </a:r>
          </a:p>
        </p:txBody>
      </p:sp>
      <p:sp>
        <p:nvSpPr>
          <p:cNvPr id="3" name="Content Placeholder 2">
            <a:extLst>
              <a:ext uri="{FF2B5EF4-FFF2-40B4-BE49-F238E27FC236}">
                <a16:creationId xmlns:a16="http://schemas.microsoft.com/office/drawing/2014/main" id="{EEED4390-CFBF-F8F5-63D8-89C18C522713}"/>
              </a:ext>
            </a:extLst>
          </p:cNvPr>
          <p:cNvSpPr>
            <a:spLocks noGrp="1"/>
          </p:cNvSpPr>
          <p:nvPr>
            <p:ph idx="1"/>
          </p:nvPr>
        </p:nvSpPr>
        <p:spPr>
          <a:xfrm>
            <a:off x="838200" y="1690688"/>
            <a:ext cx="10515600" cy="404812"/>
          </a:xfrm>
        </p:spPr>
        <p:txBody>
          <a:bodyPr>
            <a:normAutofit/>
          </a:bodyPr>
          <a:lstStyle/>
          <a:p>
            <a:pPr marL="0" indent="0">
              <a:buNone/>
            </a:pPr>
            <a:r>
              <a:rPr lang="en-US" sz="2000" dirty="0">
                <a:latin typeface="+mj-lt"/>
                <a:ea typeface="Bitstream Charter"/>
                <a:cs typeface="Bitstream Charter"/>
              </a:rPr>
              <a:t>def implement(spec: str, plan: Plan, advice: str, attempts: list[Attempt]) -&gt; str by </a:t>
            </a:r>
            <a:r>
              <a:rPr lang="en-US" sz="2000" dirty="0" err="1">
                <a:latin typeface="+mj-lt"/>
                <a:ea typeface="Bitstream Charter"/>
                <a:cs typeface="Bitstream Charter"/>
              </a:rPr>
              <a:t>llm</a:t>
            </a:r>
            <a:r>
              <a:rPr lang="en-US" sz="2000" dirty="0">
                <a:latin typeface="+mj-lt"/>
                <a:ea typeface="Bitstream Charter"/>
                <a:cs typeface="Bitstream Charter"/>
              </a:rPr>
              <a:t>();</a:t>
            </a:r>
          </a:p>
          <a:p>
            <a:pPr marL="0" indent="0">
              <a:buNone/>
            </a:pPr>
            <a:endParaRPr lang="en-US" sz="2000" dirty="0">
              <a:latin typeface="+mj-lt"/>
            </a:endParaRPr>
          </a:p>
        </p:txBody>
      </p:sp>
      <p:graphicFrame>
        <p:nvGraphicFramePr>
          <p:cNvPr id="5" name="Table 4">
            <a:extLst>
              <a:ext uri="{FF2B5EF4-FFF2-40B4-BE49-F238E27FC236}">
                <a16:creationId xmlns:a16="http://schemas.microsoft.com/office/drawing/2014/main" id="{E0BC2887-8340-F2EB-DD4D-8A0AA94254CA}"/>
              </a:ext>
            </a:extLst>
          </p:cNvPr>
          <p:cNvGraphicFramePr/>
          <p:nvPr>
            <p:extLst>
              <p:ext uri="{D42A27DB-BD31-4B8C-83A1-F6EECF244321}">
                <p14:modId xmlns:p14="http://schemas.microsoft.com/office/powerpoint/2010/main" val="2170493854"/>
              </p:ext>
            </p:extLst>
          </p:nvPr>
        </p:nvGraphicFramePr>
        <p:xfrm>
          <a:off x="514350" y="2353469"/>
          <a:ext cx="11163300" cy="3295650"/>
        </p:xfrm>
        <a:graphic>
          <a:graphicData uri="http://schemas.openxmlformats.org/drawingml/2006/table">
            <a:tbl>
              <a:tblPr>
                <a:tableStyleId>{69CF1AB2-1976-4502-BF36-3FF5EA218861}</a:tableStyleId>
              </a:tblPr>
              <a:tblGrid>
                <a:gridCol w="25908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5429250">
                  <a:extLst>
                    <a:ext uri="{9D8B030D-6E8A-4147-A177-3AD203B41FA5}">
                      <a16:colId xmlns:a16="http://schemas.microsoft.com/office/drawing/2014/main" val="20002"/>
                    </a:ext>
                  </a:extLst>
                </a:gridCol>
              </a:tblGrid>
              <a:tr h="438150">
                <a:tc>
                  <a:txBody>
                    <a:bodyPr/>
                    <a:lstStyle/>
                    <a:p>
                      <a:r>
                        <a:rPr sz="1650" b="1">
                          <a:solidFill>
                            <a:schemeClr val="tx1"/>
                          </a:solidFill>
                        </a:rPr>
                        <a:t>Prompt region (in order)</a:t>
                      </a:r>
                      <a:endParaRPr sz="1650" b="1">
                        <a:solidFill>
                          <a:schemeClr val="tx1"/>
                        </a:solidFill>
                        <a:latin typeface="+mj-lt"/>
                        <a:ea typeface="Bitstream Charter"/>
                        <a:cs typeface="Bitstream Charter"/>
                      </a:endParaRPr>
                    </a:p>
                  </a:txBody>
                  <a:tcPr/>
                </a:tc>
                <a:tc>
                  <a:txBody>
                    <a:bodyPr/>
                    <a:lstStyle/>
                    <a:p>
                      <a:r>
                        <a:rPr sz="1650" b="1">
                          <a:solidFill>
                            <a:schemeClr val="tx1"/>
                          </a:solidFill>
                        </a:rPr>
                        <a:t>Lifetime</a:t>
                      </a:r>
                      <a:endParaRPr sz="1650" b="1">
                        <a:solidFill>
                          <a:schemeClr val="tx1"/>
                        </a:solidFill>
                        <a:latin typeface="+mj-lt"/>
                        <a:ea typeface="Bitstream Charter"/>
                        <a:cs typeface="Bitstream Charter"/>
                      </a:endParaRPr>
                    </a:p>
                  </a:txBody>
                  <a:tcPr/>
                </a:tc>
                <a:tc>
                  <a:txBody>
                    <a:bodyPr/>
                    <a:lstStyle/>
                    <a:p>
                      <a:r>
                        <a:rPr sz="1650" b="1">
                          <a:solidFill>
                            <a:schemeClr val="tx1"/>
                          </a:solidFill>
                        </a:rPr>
                        <a:t>Change between successive calls</a:t>
                      </a:r>
                      <a:endParaRPr sz="1650" b="1">
                        <a:solidFill>
                          <a:schemeClr val="tx1"/>
                        </a:solidFill>
                        <a:latin typeface="+mj-lt"/>
                        <a:ea typeface="Bitstream Charter"/>
                        <a:cs typeface="Bitstream Charter"/>
                      </a:endParaRPr>
                    </a:p>
                  </a:txBody>
                  <a:tcPr/>
                </a:tc>
                <a:extLst>
                  <a:ext uri="{0D108BD9-81ED-4DB2-BD59-A6C34878D82A}">
                    <a16:rowId xmlns:a16="http://schemas.microsoft.com/office/drawing/2014/main" val="10000"/>
                  </a:ext>
                </a:extLst>
              </a:tr>
              <a:tr h="571500">
                <a:tc>
                  <a:txBody>
                    <a:bodyPr/>
                    <a:lstStyle/>
                    <a:p>
                      <a:r>
                        <a:rPr sz="1725" b="1">
                          <a:solidFill>
                            <a:schemeClr val="tx1"/>
                          </a:solidFill>
                        </a:rPr>
                        <a:t>header</a:t>
                      </a:r>
                      <a:endParaRPr sz="1725" b="1">
                        <a:solidFill>
                          <a:schemeClr val="tx1"/>
                        </a:solidFill>
                        <a:latin typeface="+mj-lt"/>
                        <a:ea typeface="Bitstream Charter"/>
                        <a:cs typeface="Bitstream Charter"/>
                      </a:endParaRPr>
                    </a:p>
                  </a:txBody>
                  <a:tcPr/>
                </a:tc>
                <a:tc>
                  <a:txBody>
                    <a:bodyPr/>
                    <a:lstStyle/>
                    <a:p>
                      <a:r>
                        <a:rPr sz="1725" b="0">
                          <a:solidFill>
                            <a:schemeClr val="tx1"/>
                          </a:solidFill>
                        </a:rPr>
                        <a:t>Program constant</a:t>
                      </a:r>
                      <a:endParaRPr sz="1725" b="0">
                        <a:solidFill>
                          <a:schemeClr val="tx1"/>
                        </a:solidFill>
                        <a:latin typeface="+mj-lt"/>
                        <a:ea typeface="Bitstream Charter"/>
                        <a:cs typeface="Bitstream Charter"/>
                      </a:endParaRPr>
                    </a:p>
                  </a:txBody>
                  <a:tcPr/>
                </a:tc>
                <a:tc>
                  <a:txBody>
                    <a:bodyPr/>
                    <a:lstStyle/>
                    <a:p>
                      <a:r>
                        <a:rPr sz="1725" b="0" dirty="0" err="1">
                          <a:solidFill>
                            <a:schemeClr val="tx1"/>
                          </a:solidFill>
                        </a:rPr>
                        <a:t>sem</a:t>
                      </a:r>
                      <a:r>
                        <a:rPr sz="1725" b="0" dirty="0">
                          <a:solidFill>
                            <a:schemeClr val="tx1"/>
                          </a:solidFill>
                        </a:rPr>
                        <a:t> docstrings, type schemas, output format</a:t>
                      </a:r>
                      <a:endParaRPr sz="1725" b="0" dirty="0">
                        <a:solidFill>
                          <a:schemeClr val="tx1"/>
                        </a:solidFill>
                        <a:latin typeface="+mj-lt"/>
                        <a:ea typeface="Bitstream Charter"/>
                        <a:cs typeface="Bitstream Charter"/>
                      </a:endParaRPr>
                    </a:p>
                  </a:txBody>
                  <a:tcPr/>
                </a:tc>
                <a:extLst>
                  <a:ext uri="{0D108BD9-81ED-4DB2-BD59-A6C34878D82A}">
                    <a16:rowId xmlns:a16="http://schemas.microsoft.com/office/drawing/2014/main" val="10001"/>
                  </a:ext>
                </a:extLst>
              </a:tr>
              <a:tr h="571500">
                <a:tc>
                  <a:txBody>
                    <a:bodyPr/>
                    <a:lstStyle/>
                    <a:p>
                      <a:r>
                        <a:rPr sz="1725" b="1">
                          <a:solidFill>
                            <a:schemeClr val="tx1"/>
                          </a:solidFill>
                        </a:rPr>
                        <a:t>spec</a:t>
                      </a:r>
                      <a:endParaRPr sz="1725" b="1">
                        <a:solidFill>
                          <a:schemeClr val="tx1"/>
                        </a:solidFill>
                        <a:latin typeface="+mj-lt"/>
                        <a:ea typeface="Bitstream Charter"/>
                        <a:cs typeface="Bitstream Charter"/>
                      </a:endParaRPr>
                    </a:p>
                  </a:txBody>
                  <a:tcPr/>
                </a:tc>
                <a:tc>
                  <a:txBody>
                    <a:bodyPr/>
                    <a:lstStyle/>
                    <a:p>
                      <a:r>
                        <a:rPr lang="en-US" sz="1725" b="0" dirty="0">
                          <a:solidFill>
                            <a:schemeClr val="tx1"/>
                          </a:solidFill>
                        </a:rPr>
                        <a:t>whole</a:t>
                      </a:r>
                      <a:r>
                        <a:rPr sz="1725" b="0" dirty="0">
                          <a:solidFill>
                            <a:schemeClr val="tx1"/>
                          </a:solidFill>
                        </a:rPr>
                        <a:t> </a:t>
                      </a:r>
                      <a:r>
                        <a:rPr lang="en-US" sz="1725" b="0" dirty="0">
                          <a:solidFill>
                            <a:schemeClr val="tx1"/>
                          </a:solidFill>
                        </a:rPr>
                        <a:t>Session</a:t>
                      </a:r>
                      <a:endParaRPr sz="1725" b="0" dirty="0">
                        <a:solidFill>
                          <a:schemeClr val="tx1"/>
                        </a:solidFill>
                        <a:latin typeface="+mj-lt"/>
                        <a:ea typeface="Bitstream Charter"/>
                        <a:cs typeface="Bitstream Charter"/>
                      </a:endParaRPr>
                    </a:p>
                  </a:txBody>
                  <a:tcPr/>
                </a:tc>
                <a:tc>
                  <a:txBody>
                    <a:bodyPr/>
                    <a:lstStyle/>
                    <a:p>
                      <a:r>
                        <a:rPr sz="1725" b="0" dirty="0">
                          <a:solidFill>
                            <a:schemeClr val="tx1"/>
                          </a:solidFill>
                        </a:rPr>
                        <a:t>Rarely changes</a:t>
                      </a:r>
                      <a:endParaRPr sz="1725" b="0" dirty="0">
                        <a:solidFill>
                          <a:schemeClr val="tx1"/>
                        </a:solidFill>
                        <a:latin typeface="+mj-lt"/>
                        <a:ea typeface="Bitstream Charter"/>
                        <a:cs typeface="Bitstream Charter"/>
                      </a:endParaRPr>
                    </a:p>
                  </a:txBody>
                  <a:tcPr/>
                </a:tc>
                <a:extLst>
                  <a:ext uri="{0D108BD9-81ED-4DB2-BD59-A6C34878D82A}">
                    <a16:rowId xmlns:a16="http://schemas.microsoft.com/office/drawing/2014/main" val="10002"/>
                  </a:ext>
                </a:extLst>
              </a:tr>
              <a:tr h="571500">
                <a:tc>
                  <a:txBody>
                    <a:bodyPr/>
                    <a:lstStyle/>
                    <a:p>
                      <a:r>
                        <a:rPr sz="1725" b="1">
                          <a:solidFill>
                            <a:schemeClr val="tx1"/>
                          </a:solidFill>
                        </a:rPr>
                        <a:t>plan</a:t>
                      </a:r>
                      <a:endParaRPr sz="1725" b="1">
                        <a:solidFill>
                          <a:schemeClr val="tx1"/>
                        </a:solidFill>
                        <a:latin typeface="+mj-lt"/>
                        <a:ea typeface="Bitstream Charter"/>
                        <a:cs typeface="Bitstream Charter"/>
                      </a:endParaRPr>
                    </a:p>
                  </a:txBody>
                  <a:tcPr/>
                </a:tc>
                <a:tc>
                  <a:txBody>
                    <a:bodyPr/>
                    <a:lstStyle/>
                    <a:p>
                      <a:r>
                        <a:rPr sz="1725" b="0" dirty="0">
                          <a:solidFill>
                            <a:schemeClr val="tx1"/>
                          </a:solidFill>
                        </a:rPr>
                        <a:t>One Planner round</a:t>
                      </a:r>
                      <a:endParaRPr sz="1725" b="0" dirty="0">
                        <a:solidFill>
                          <a:schemeClr val="tx1"/>
                        </a:solidFill>
                        <a:latin typeface="+mj-lt"/>
                        <a:ea typeface="Bitstream Charter"/>
                        <a:cs typeface="Bitstream Charter"/>
                      </a:endParaRPr>
                    </a:p>
                  </a:txBody>
                  <a:tcPr/>
                </a:tc>
                <a:tc>
                  <a:txBody>
                    <a:bodyPr/>
                    <a:lstStyle/>
                    <a:p>
                      <a:r>
                        <a:rPr sz="1725" b="0">
                          <a:solidFill>
                            <a:schemeClr val="tx1"/>
                          </a:solidFill>
                        </a:rPr>
                        <a:t>Replaced each round</a:t>
                      </a:r>
                      <a:endParaRPr sz="1725" b="0">
                        <a:solidFill>
                          <a:schemeClr val="tx1"/>
                        </a:solidFill>
                        <a:latin typeface="+mj-lt"/>
                        <a:ea typeface="Bitstream Charter"/>
                        <a:cs typeface="Bitstream Charter"/>
                      </a:endParaRPr>
                    </a:p>
                  </a:txBody>
                  <a:tcPr/>
                </a:tc>
                <a:extLst>
                  <a:ext uri="{0D108BD9-81ED-4DB2-BD59-A6C34878D82A}">
                    <a16:rowId xmlns:a16="http://schemas.microsoft.com/office/drawing/2014/main" val="10003"/>
                  </a:ext>
                </a:extLst>
              </a:tr>
              <a:tr h="571500">
                <a:tc>
                  <a:txBody>
                    <a:bodyPr/>
                    <a:lstStyle/>
                    <a:p>
                      <a:r>
                        <a:rPr sz="1725" b="1">
                          <a:solidFill>
                            <a:schemeClr val="tx1"/>
                          </a:solidFill>
                        </a:rPr>
                        <a:t>advice</a:t>
                      </a:r>
                      <a:endParaRPr sz="1725" b="1">
                        <a:solidFill>
                          <a:schemeClr val="tx1"/>
                        </a:solidFill>
                        <a:latin typeface="+mj-lt"/>
                        <a:ea typeface="Bitstream Charter"/>
                        <a:cs typeface="Bitstream Charter"/>
                      </a:endParaRPr>
                    </a:p>
                  </a:txBody>
                  <a:tcPr/>
                </a:tc>
                <a:tc>
                  <a:txBody>
                    <a:bodyPr/>
                    <a:lstStyle/>
                    <a:p>
                      <a:r>
                        <a:rPr sz="1725" b="0" dirty="0">
                          <a:solidFill>
                            <a:schemeClr val="tx1"/>
                          </a:solidFill>
                        </a:rPr>
                        <a:t>One call</a:t>
                      </a:r>
                      <a:endParaRPr sz="1725" b="0" dirty="0">
                        <a:solidFill>
                          <a:schemeClr val="tx1"/>
                        </a:solidFill>
                        <a:latin typeface="+mj-lt"/>
                        <a:ea typeface="Bitstream Charter"/>
                        <a:cs typeface="Bitstream Charter"/>
                      </a:endParaRPr>
                    </a:p>
                  </a:txBody>
                  <a:tcPr/>
                </a:tc>
                <a:tc>
                  <a:txBody>
                    <a:bodyPr/>
                    <a:lstStyle/>
                    <a:p>
                      <a:r>
                        <a:rPr sz="1725" b="0" dirty="0">
                          <a:solidFill>
                            <a:schemeClr val="tx1"/>
                          </a:solidFill>
                        </a:rPr>
                        <a:t>Changes each call: </a:t>
                      </a:r>
                      <a:r>
                        <a:rPr lang="en-US" sz="1725" b="0" dirty="0">
                          <a:solidFill>
                            <a:schemeClr val="tx1"/>
                          </a:solidFill>
                        </a:rPr>
                        <a:t>comes</a:t>
                      </a:r>
                      <a:r>
                        <a:rPr sz="1725" b="0" dirty="0">
                          <a:solidFill>
                            <a:schemeClr val="tx1"/>
                          </a:solidFill>
                        </a:rPr>
                        <a:t> </a:t>
                      </a:r>
                      <a:r>
                        <a:rPr lang="en-US" sz="1725" b="0" dirty="0">
                          <a:solidFill>
                            <a:schemeClr val="tx1"/>
                          </a:solidFill>
                        </a:rPr>
                        <a:t>from per-round’s d</a:t>
                      </a:r>
                      <a:r>
                        <a:rPr sz="1725" b="0" dirty="0">
                          <a:solidFill>
                            <a:schemeClr val="tx1"/>
                          </a:solidFill>
                        </a:rPr>
                        <a:t>iagnosis</a:t>
                      </a:r>
                      <a:endParaRPr sz="1725" b="0" dirty="0">
                        <a:solidFill>
                          <a:schemeClr val="tx1"/>
                        </a:solidFill>
                        <a:latin typeface="+mj-lt"/>
                        <a:ea typeface="Bitstream Charter"/>
                        <a:cs typeface="Bitstream Charter"/>
                      </a:endParaRPr>
                    </a:p>
                  </a:txBody>
                  <a:tcPr/>
                </a:tc>
                <a:extLst>
                  <a:ext uri="{0D108BD9-81ED-4DB2-BD59-A6C34878D82A}">
                    <a16:rowId xmlns:a16="http://schemas.microsoft.com/office/drawing/2014/main" val="10004"/>
                  </a:ext>
                </a:extLst>
              </a:tr>
              <a:tr h="571500">
                <a:tc>
                  <a:txBody>
                    <a:bodyPr/>
                    <a:lstStyle/>
                    <a:p>
                      <a:r>
                        <a:rPr sz="1725" b="1">
                          <a:solidFill>
                            <a:schemeClr val="tx1"/>
                          </a:solidFill>
                        </a:rPr>
                        <a:t>attempts</a:t>
                      </a:r>
                      <a:endParaRPr sz="1725" b="1">
                        <a:solidFill>
                          <a:schemeClr val="tx1"/>
                        </a:solidFill>
                        <a:latin typeface="+mj-lt"/>
                        <a:ea typeface="Bitstream Charter"/>
                        <a:cs typeface="Bitstream Charter"/>
                      </a:endParaRPr>
                    </a:p>
                  </a:txBody>
                  <a:tcPr/>
                </a:tc>
                <a:tc>
                  <a:txBody>
                    <a:bodyPr/>
                    <a:lstStyle/>
                    <a:p>
                      <a:r>
                        <a:rPr sz="1725" b="0" dirty="0">
                          <a:solidFill>
                            <a:schemeClr val="tx1"/>
                          </a:solidFill>
                        </a:rPr>
                        <a:t>Whole session, append-only</a:t>
                      </a:r>
                      <a:endParaRPr sz="1725" b="0" dirty="0">
                        <a:solidFill>
                          <a:schemeClr val="tx1"/>
                        </a:solidFill>
                        <a:latin typeface="+mj-lt"/>
                        <a:ea typeface="Bitstream Charter"/>
                        <a:cs typeface="Bitstream Charter"/>
                      </a:endParaRPr>
                    </a:p>
                  </a:txBody>
                  <a:tcPr/>
                </a:tc>
                <a:tc>
                  <a:txBody>
                    <a:bodyPr/>
                    <a:lstStyle/>
                    <a:p>
                      <a:r>
                        <a:rPr sz="1725" b="0" dirty="0">
                          <a:solidFill>
                            <a:schemeClr val="tx1"/>
                          </a:solidFill>
                        </a:rPr>
                        <a:t>Adds one entry; old entries remain byte-identical</a:t>
                      </a:r>
                      <a:endParaRPr sz="1725" b="0" dirty="0">
                        <a:solidFill>
                          <a:schemeClr val="tx1"/>
                        </a:solidFill>
                        <a:latin typeface="+mj-lt"/>
                        <a:ea typeface="Bitstream Charter"/>
                        <a:cs typeface="Bitstream Charter"/>
                      </a:endParaRPr>
                    </a:p>
                  </a:txBody>
                  <a:tcP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20C86B79-B4E1-6396-ABDB-A0914C999301}"/>
              </a:ext>
            </a:extLst>
          </p:cNvPr>
          <p:cNvSpPr txBox="1"/>
          <p:nvPr/>
        </p:nvSpPr>
        <p:spPr>
          <a:xfrm>
            <a:off x="514350" y="5940109"/>
            <a:ext cx="11442652" cy="369332"/>
          </a:xfrm>
          <a:prstGeom prst="rect">
            <a:avLst/>
          </a:prstGeom>
          <a:noFill/>
        </p:spPr>
        <p:txBody>
          <a:bodyPr wrap="square" rtlCol="0">
            <a:spAutoFit/>
          </a:bodyPr>
          <a:lstStyle/>
          <a:p>
            <a:r>
              <a:rPr lang="en-US" altLang="zh-CN" dirty="0"/>
              <a:t>We put “plan” and “advice” before “attempts”; when they change, the reusage prefix of “attempts” is contaminated </a:t>
            </a:r>
            <a:endParaRPr lang="en-US" dirty="0"/>
          </a:p>
        </p:txBody>
      </p:sp>
    </p:spTree>
    <p:extLst>
      <p:ext uri="{BB962C8B-B14F-4D97-AF65-F5344CB8AC3E}">
        <p14:creationId xmlns:p14="http://schemas.microsoft.com/office/powerpoint/2010/main" val="4207842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8FB67-F19E-2402-04A5-52D45218D472}"/>
              </a:ext>
            </a:extLst>
          </p:cNvPr>
          <p:cNvSpPr>
            <a:spLocks noGrp="1"/>
          </p:cNvSpPr>
          <p:nvPr>
            <p:ph type="title"/>
          </p:nvPr>
        </p:nvSpPr>
        <p:spPr/>
        <p:txBody>
          <a:bodyPr/>
          <a:lstStyle/>
          <a:p>
            <a:r>
              <a:rPr lang="en-US" dirty="0"/>
              <a:t>Identifying heterogeneity in prompt</a:t>
            </a:r>
          </a:p>
        </p:txBody>
      </p:sp>
      <p:sp>
        <p:nvSpPr>
          <p:cNvPr id="3" name="Content Placeholder 2">
            <a:extLst>
              <a:ext uri="{FF2B5EF4-FFF2-40B4-BE49-F238E27FC236}">
                <a16:creationId xmlns:a16="http://schemas.microsoft.com/office/drawing/2014/main" id="{7B51ACAF-1CC8-13AA-B9D9-C258522D1842}"/>
              </a:ext>
            </a:extLst>
          </p:cNvPr>
          <p:cNvSpPr>
            <a:spLocks noGrp="1"/>
          </p:cNvSpPr>
          <p:nvPr>
            <p:ph idx="1"/>
          </p:nvPr>
        </p:nvSpPr>
        <p:spPr/>
        <p:txBody>
          <a:bodyPr>
            <a:normAutofit fontScale="85000" lnSpcReduction="10000"/>
          </a:bodyPr>
          <a:lstStyle/>
          <a:p>
            <a:pPr marL="0" indent="0">
              <a:buNone/>
            </a:pPr>
            <a:r>
              <a:rPr lang="en-US" altLang="zh-CN" sz="2400" dirty="0"/>
              <a:t>We identify the heterogeneity by analyzing past traces. First, each text request is converted back to its </a:t>
            </a:r>
            <a:r>
              <a:rPr lang="en-US" altLang="zh-CN" sz="2400" dirty="0" err="1"/>
              <a:t>callsite</a:t>
            </a:r>
            <a:r>
              <a:rPr lang="en-US" altLang="zh-CN" sz="2400" dirty="0"/>
              <a:t> signature and bindings. Then we analyze the traces along two dimensions</a:t>
            </a:r>
            <a:r>
              <a:rPr lang="en-US" sz="2400" dirty="0"/>
              <a:t>:</a:t>
            </a:r>
          </a:p>
          <a:p>
            <a:pPr marL="514350" indent="-514350">
              <a:buFont typeface="+mj-lt"/>
              <a:buAutoNum type="arabicPeriod"/>
            </a:pPr>
            <a:r>
              <a:rPr lang="en-US" sz="2400" dirty="0"/>
              <a:t>Intra-</a:t>
            </a:r>
            <a:r>
              <a:rPr lang="en-US" sz="2400" dirty="0" err="1"/>
              <a:t>callsite</a:t>
            </a:r>
            <a:r>
              <a:rPr lang="en-US" sz="2400" dirty="0"/>
              <a:t> evolution:  For each binding, we compare its value across consecutive calls of the same </a:t>
            </a:r>
            <a:r>
              <a:rPr lang="en-US" sz="2400" dirty="0" err="1"/>
              <a:t>callsite</a:t>
            </a:r>
            <a:r>
              <a:rPr lang="en-US" sz="2400" dirty="0"/>
              <a:t> within a session and count same, extend, and fresh transitions.</a:t>
            </a:r>
          </a:p>
          <a:p>
            <a:pPr marL="514350" indent="-514350">
              <a:buFont typeface="+mj-lt"/>
              <a:buAutoNum type="arabicPeriod"/>
            </a:pPr>
            <a:r>
              <a:rPr lang="en-US" sz="2400" dirty="0"/>
              <a:t>Cross-</a:t>
            </a:r>
            <a:r>
              <a:rPr lang="en-US" sz="2400" dirty="0" err="1"/>
              <a:t>callsites</a:t>
            </a:r>
            <a:r>
              <a:rPr lang="en-US" sz="2400" dirty="0"/>
              <a:t> sharing:  We check whether another </a:t>
            </a:r>
            <a:r>
              <a:rPr lang="en-US" sz="2400" dirty="0" err="1"/>
              <a:t>callsite</a:t>
            </a:r>
            <a:r>
              <a:rPr lang="en-US" sz="2400" dirty="0"/>
              <a:t> in the same session already carried the same value, or a prefix that the current value extends.</a:t>
            </a:r>
          </a:p>
          <a:p>
            <a:pPr marL="0" indent="0">
              <a:buNone/>
            </a:pPr>
            <a:r>
              <a:rPr lang="en-US" sz="2400" dirty="0"/>
              <a:t>Finally, we obtain an evolution pattern for each binding and classify it as one of:</a:t>
            </a:r>
          </a:p>
          <a:p>
            <a:pPr marL="514350" indent="-514350">
              <a:buFont typeface="+mj-lt"/>
              <a:buAutoNum type="arabicPeriod"/>
            </a:pPr>
            <a:r>
              <a:rPr lang="en-US" sz="2400" dirty="0"/>
              <a:t>Constant: The same literal recurs across sessions;</a:t>
            </a:r>
          </a:p>
          <a:p>
            <a:pPr marL="514350" indent="-514350">
              <a:buFont typeface="+mj-lt"/>
              <a:buAutoNum type="arabicPeriod"/>
            </a:pPr>
            <a:r>
              <a:rPr lang="en-US" altLang="zh-CN" sz="2400" dirty="0"/>
              <a:t>Copied:  The value is reused from an earlier call in the same session</a:t>
            </a:r>
          </a:p>
          <a:p>
            <a:pPr marL="514350" indent="-514350">
              <a:buFont typeface="+mj-lt"/>
              <a:buAutoNum type="arabicPeriod"/>
            </a:pPr>
            <a:r>
              <a:rPr lang="en-US" sz="2400" dirty="0"/>
              <a:t>Extended: Each new value grows from the previous one by appending</a:t>
            </a:r>
          </a:p>
          <a:p>
            <a:pPr marL="514350" indent="-514350">
              <a:buFont typeface="+mj-lt"/>
              <a:buAutoNum type="arabicPeriod"/>
            </a:pPr>
            <a:r>
              <a:rPr lang="en-US" sz="2400" dirty="0"/>
              <a:t>Volatile: The value is fresh on most calls, doesn’t get reused. </a:t>
            </a:r>
          </a:p>
          <a:p>
            <a:pPr marL="0" indent="0">
              <a:buNone/>
            </a:pPr>
            <a:r>
              <a:rPr lang="en-US" sz="2400" dirty="0"/>
              <a:t>Orthogonally, a binding shared by multiple </a:t>
            </a:r>
            <a:r>
              <a:rPr lang="en-US" sz="2400" dirty="0" err="1"/>
              <a:t>callsites</a:t>
            </a:r>
            <a:r>
              <a:rPr lang="en-US" sz="2400" dirty="0"/>
              <a:t> and not volatile is marked cross-stable.</a:t>
            </a:r>
          </a:p>
        </p:txBody>
      </p:sp>
      <p:sp>
        <p:nvSpPr>
          <p:cNvPr id="4" name="TextBox 3">
            <a:extLst>
              <a:ext uri="{FF2B5EF4-FFF2-40B4-BE49-F238E27FC236}">
                <a16:creationId xmlns:a16="http://schemas.microsoft.com/office/drawing/2014/main" id="{74024DF3-5E1F-D384-CAC9-947F934E08F9}"/>
              </a:ext>
            </a:extLst>
          </p:cNvPr>
          <p:cNvSpPr txBox="1"/>
          <p:nvPr/>
        </p:nvSpPr>
        <p:spPr>
          <a:xfrm>
            <a:off x="544452" y="6176963"/>
            <a:ext cx="7525715" cy="369332"/>
          </a:xfrm>
          <a:prstGeom prst="rect">
            <a:avLst/>
          </a:prstGeom>
          <a:noFill/>
        </p:spPr>
        <p:txBody>
          <a:bodyPr wrap="none" rtlCol="0">
            <a:spAutoFit/>
          </a:bodyPr>
          <a:lstStyle/>
          <a:p>
            <a:r>
              <a:rPr lang="en-US" altLang="zh-CN" dirty="0"/>
              <a:t>IR: </a:t>
            </a:r>
            <a:r>
              <a:rPr lang="en-US" dirty="0"/>
              <a:t>request→{</a:t>
            </a:r>
            <a:r>
              <a:rPr lang="en-US" dirty="0" err="1"/>
              <a:t>callsite</a:t>
            </a:r>
            <a:r>
              <a:rPr lang="en-US" dirty="0"/>
              <a:t>, bindings, provenance, lifetime, sharing, future reuse}</a:t>
            </a:r>
          </a:p>
        </p:txBody>
      </p:sp>
    </p:spTree>
    <p:extLst>
      <p:ext uri="{BB962C8B-B14F-4D97-AF65-F5344CB8AC3E}">
        <p14:creationId xmlns:p14="http://schemas.microsoft.com/office/powerpoint/2010/main" val="1909159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20C6-FA52-FDAE-614B-23F83206E227}"/>
              </a:ext>
            </a:extLst>
          </p:cNvPr>
          <p:cNvSpPr>
            <a:spLocks noGrp="1"/>
          </p:cNvSpPr>
          <p:nvPr>
            <p:ph type="title"/>
          </p:nvPr>
        </p:nvSpPr>
        <p:spPr/>
        <p:txBody>
          <a:bodyPr/>
          <a:lstStyle/>
          <a:p>
            <a:r>
              <a:rPr lang="en-US" altLang="zh-CN" dirty="0"/>
              <a:t>Recover Agent Structure As time-annotated probabilistic state machine</a:t>
            </a:r>
            <a:endParaRPr lang="en-US" dirty="0"/>
          </a:p>
        </p:txBody>
      </p:sp>
      <p:sp>
        <p:nvSpPr>
          <p:cNvPr id="3" name="Content Placeholder 2">
            <a:extLst>
              <a:ext uri="{FF2B5EF4-FFF2-40B4-BE49-F238E27FC236}">
                <a16:creationId xmlns:a16="http://schemas.microsoft.com/office/drawing/2014/main" id="{ACCCE88B-8CE2-57C6-7127-A523E9411A1E}"/>
              </a:ext>
            </a:extLst>
          </p:cNvPr>
          <p:cNvSpPr>
            <a:spLocks noGrp="1"/>
          </p:cNvSpPr>
          <p:nvPr>
            <p:ph idx="1"/>
          </p:nvPr>
        </p:nvSpPr>
        <p:spPr>
          <a:xfrm>
            <a:off x="838199" y="1825625"/>
            <a:ext cx="10923357" cy="4667250"/>
          </a:xfrm>
        </p:spPr>
        <p:txBody>
          <a:bodyPr>
            <a:normAutofit lnSpcReduction="10000"/>
          </a:bodyPr>
          <a:lstStyle/>
          <a:p>
            <a:pPr marL="514350" indent="-514350">
              <a:buFont typeface="+mj-lt"/>
              <a:buAutoNum type="arabicPeriod"/>
            </a:pPr>
            <a:r>
              <a:rPr lang="en-US" sz="1900" dirty="0"/>
              <a:t>Serving engine observed LLM calling traces</a:t>
            </a:r>
            <a:r>
              <a:rPr lang="en-US" altLang="zh-CN" sz="1900" dirty="0"/>
              <a:t>, after </a:t>
            </a:r>
            <a:r>
              <a:rPr lang="en-US" altLang="zh-CN" sz="2000" dirty="0"/>
              <a:t>resolved by</a:t>
            </a:r>
            <a:r>
              <a:rPr lang="en-US" sz="1900" dirty="0"/>
              <a:t> re-lowering, we obtain a chain of calls.</a:t>
            </a:r>
          </a:p>
          <a:p>
            <a:pPr marL="514350" indent="-514350">
              <a:buFont typeface="+mj-lt"/>
              <a:buAutoNum type="arabicPeriod"/>
            </a:pPr>
            <a:r>
              <a:rPr lang="en-US" sz="1900" dirty="0"/>
              <a:t>Calling traces are first recorded as prefix tree with branching frequency, inter-call gaps and execution time gap. </a:t>
            </a:r>
          </a:p>
          <a:p>
            <a:pPr marL="514350" indent="-514350">
              <a:buFont typeface="+mj-lt"/>
              <a:buAutoNum type="arabicPeriod"/>
            </a:pPr>
            <a:r>
              <a:rPr lang="en-US" sz="1900" dirty="0"/>
              <a:t>The prefix tree will be folded into state machine using </a:t>
            </a:r>
            <a:r>
              <a:rPr lang="en-US" sz="1900" dirty="0" err="1"/>
              <a:t>Alergia</a:t>
            </a:r>
            <a:r>
              <a:rPr lang="en-US" sz="1900" dirty="0"/>
              <a:t>-style state merge.</a:t>
            </a:r>
          </a:p>
          <a:p>
            <a:pPr marL="0" indent="0">
              <a:buNone/>
            </a:pPr>
            <a:r>
              <a:rPr lang="en-US" sz="2000" i="1" dirty="0"/>
              <a:t>𝒜 = (Q, P, q₀, F, 𝒯)</a:t>
            </a:r>
          </a:p>
          <a:p>
            <a:r>
              <a:rPr lang="en-US" sz="2000" dirty="0"/>
              <a:t>Q — set of states; each state q ∈ Q is an LLM </a:t>
            </a:r>
            <a:r>
              <a:rPr lang="en-US" sz="2000" dirty="0" err="1"/>
              <a:t>callsite</a:t>
            </a:r>
            <a:r>
              <a:rPr lang="en-US" sz="2000" dirty="0"/>
              <a:t> (signature, instance)</a:t>
            </a:r>
          </a:p>
          <a:p>
            <a:r>
              <a:rPr lang="en-US" sz="2000" dirty="0"/>
              <a:t>P : Q × Q → [0,1] — transition probability between </a:t>
            </a:r>
            <a:r>
              <a:rPr lang="en-US" sz="2000" dirty="0" err="1"/>
              <a:t>callsites</a:t>
            </a:r>
            <a:endParaRPr lang="en-US" sz="2000" dirty="0"/>
          </a:p>
          <a:p>
            <a:r>
              <a:rPr lang="en-US" sz="2000" dirty="0"/>
              <a:t>q₀ ∈ Q — entrance </a:t>
            </a:r>
            <a:r>
              <a:rPr lang="en-US" sz="2000" dirty="0" err="1"/>
              <a:t>callsite</a:t>
            </a:r>
            <a:endParaRPr lang="en-US" sz="2000" dirty="0"/>
          </a:p>
          <a:p>
            <a:r>
              <a:rPr lang="en-US" sz="2000" dirty="0"/>
              <a:t>F : Q → [0,1] — probability that the agent terminates at state q;  F(q) + </a:t>
            </a:r>
            <a:r>
              <a:rPr lang="en-US" sz="2000" dirty="0" err="1"/>
              <a:t>Σ</a:t>
            </a:r>
            <a:r>
              <a:rPr lang="en-US" sz="800" dirty="0" err="1"/>
              <a:t>q</a:t>
            </a:r>
            <a:r>
              <a:rPr lang="en-US" sz="800" dirty="0"/>
              <a:t>′</a:t>
            </a:r>
            <a:r>
              <a:rPr lang="en-US" sz="2000" dirty="0"/>
              <a:t> P(q, q′) = 1</a:t>
            </a:r>
          </a:p>
          <a:p>
            <a:r>
              <a:rPr lang="en-US" sz="2000" dirty="0"/>
              <a:t>𝒯 = { </a:t>
            </a:r>
            <a:r>
              <a:rPr lang="en-US" sz="2000" dirty="0" err="1"/>
              <a:t>D</a:t>
            </a:r>
            <a:r>
              <a:rPr lang="en-US" sz="800" dirty="0" err="1"/>
              <a:t>exec</a:t>
            </a:r>
            <a:r>
              <a:rPr lang="en-US" sz="2000" dirty="0"/>
              <a:t>(q),  </a:t>
            </a:r>
            <a:r>
              <a:rPr lang="en-US" sz="2000" dirty="0" err="1"/>
              <a:t>D</a:t>
            </a:r>
            <a:r>
              <a:rPr lang="en-US" sz="800" dirty="0" err="1"/>
              <a:t>gap</a:t>
            </a:r>
            <a:r>
              <a:rPr lang="en-US" sz="2000" dirty="0"/>
              <a:t>(q, q′) } — timing annotations</a:t>
            </a:r>
          </a:p>
          <a:p>
            <a:pPr lvl="1"/>
            <a:r>
              <a:rPr lang="en-US" sz="1800" dirty="0" err="1"/>
              <a:t>D</a:t>
            </a:r>
            <a:r>
              <a:rPr lang="en-US" sz="800" dirty="0" err="1"/>
              <a:t>exec</a:t>
            </a:r>
            <a:r>
              <a:rPr lang="en-US" sz="1800" dirty="0"/>
              <a:t>(q): execution-time distribution of </a:t>
            </a:r>
            <a:r>
              <a:rPr lang="en-US" sz="1800" dirty="0" err="1"/>
              <a:t>callsite</a:t>
            </a:r>
            <a:r>
              <a:rPr lang="en-US" sz="1800" dirty="0"/>
              <a:t> q</a:t>
            </a:r>
          </a:p>
          <a:p>
            <a:pPr lvl="1"/>
            <a:r>
              <a:rPr lang="en-US" sz="1800" dirty="0" err="1"/>
              <a:t>D</a:t>
            </a:r>
            <a:r>
              <a:rPr lang="en-US" sz="800" dirty="0" err="1"/>
              <a:t>gap</a:t>
            </a:r>
            <a:r>
              <a:rPr lang="en-US" sz="1800" dirty="0"/>
              <a:t>(q, q′): inter-call gap between completion of q and invocation of successor q′</a:t>
            </a:r>
          </a:p>
          <a:p>
            <a:pPr marL="0" indent="0">
              <a:buNone/>
            </a:pPr>
            <a:r>
              <a:rPr lang="en-US" sz="1600" dirty="0"/>
              <a:t> </a:t>
            </a:r>
          </a:p>
        </p:txBody>
      </p:sp>
      <p:sp>
        <p:nvSpPr>
          <p:cNvPr id="6" name="Content Placeholder 2">
            <a:extLst>
              <a:ext uri="{FF2B5EF4-FFF2-40B4-BE49-F238E27FC236}">
                <a16:creationId xmlns:a16="http://schemas.microsoft.com/office/drawing/2014/main" id="{85099C74-3181-0173-A844-D07A610ABBC4}"/>
              </a:ext>
            </a:extLst>
          </p:cNvPr>
          <p:cNvSpPr txBox="1">
            <a:spLocks/>
          </p:cNvSpPr>
          <p:nvPr/>
        </p:nvSpPr>
        <p:spPr>
          <a:xfrm>
            <a:off x="997580" y="314371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600" dirty="0"/>
          </a:p>
        </p:txBody>
      </p:sp>
    </p:spTree>
    <p:extLst>
      <p:ext uri="{BB962C8B-B14F-4D97-AF65-F5344CB8AC3E}">
        <p14:creationId xmlns:p14="http://schemas.microsoft.com/office/powerpoint/2010/main" val="112459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8FB6-66FF-F677-FDDB-445586BB3F66}"/>
              </a:ext>
            </a:extLst>
          </p:cNvPr>
          <p:cNvSpPr>
            <a:spLocks noGrp="1"/>
          </p:cNvSpPr>
          <p:nvPr>
            <p:ph type="title"/>
          </p:nvPr>
        </p:nvSpPr>
        <p:spPr/>
        <p:txBody>
          <a:bodyPr/>
          <a:lstStyle/>
          <a:p>
            <a:r>
              <a:rPr lang="en-US" dirty="0"/>
              <a:t>Schedule KV cache efficiently</a:t>
            </a:r>
          </a:p>
        </p:txBody>
      </p:sp>
      <p:sp>
        <p:nvSpPr>
          <p:cNvPr id="3" name="Content Placeholder 2">
            <a:extLst>
              <a:ext uri="{FF2B5EF4-FFF2-40B4-BE49-F238E27FC236}">
                <a16:creationId xmlns:a16="http://schemas.microsoft.com/office/drawing/2014/main" id="{B56936AB-281C-9F4B-9277-705262748631}"/>
              </a:ext>
            </a:extLst>
          </p:cNvPr>
          <p:cNvSpPr>
            <a:spLocks noGrp="1"/>
          </p:cNvSpPr>
          <p:nvPr>
            <p:ph idx="1"/>
          </p:nvPr>
        </p:nvSpPr>
        <p:spPr/>
        <p:txBody>
          <a:bodyPr>
            <a:normAutofit fontScale="77500" lnSpcReduction="20000"/>
          </a:bodyPr>
          <a:lstStyle/>
          <a:p>
            <a:pPr marL="0" indent="0">
              <a:buNone/>
            </a:pPr>
            <a:r>
              <a:rPr lang="en-US" dirty="0"/>
              <a:t>Schedule KV cache involves 2 layers of management:</a:t>
            </a:r>
          </a:p>
          <a:p>
            <a:pPr marL="0" indent="0">
              <a:buNone/>
            </a:pPr>
            <a:r>
              <a:rPr lang="en-US" dirty="0"/>
              <a:t>Prompt Re-layout: Stable first, shared first.</a:t>
            </a:r>
          </a:p>
          <a:p>
            <a:pPr marL="514350" indent="-514350">
              <a:buFont typeface="+mj-lt"/>
              <a:buAutoNum type="arabicPeriod"/>
            </a:pPr>
            <a:r>
              <a:rPr lang="en-US" dirty="0"/>
              <a:t>Reorder each </a:t>
            </a:r>
            <a:r>
              <a:rPr lang="en-US" dirty="0" err="1"/>
              <a:t>callsite's</a:t>
            </a:r>
            <a:r>
              <a:rPr lang="en-US" dirty="0"/>
              <a:t> bindings by prefix lifetime: constant → copied → extended → volatile</a:t>
            </a:r>
          </a:p>
          <a:p>
            <a:pPr marL="514350" indent="-514350">
              <a:buFont typeface="+mj-lt"/>
              <a:buAutoNum type="arabicPeriod"/>
            </a:pPr>
            <a:r>
              <a:rPr lang="en-US" dirty="0"/>
              <a:t>If a binding is shared by multiple </a:t>
            </a:r>
            <a:r>
              <a:rPr lang="en-US" dirty="0" err="1"/>
              <a:t>callsites</a:t>
            </a:r>
            <a:r>
              <a:rPr lang="en-US" dirty="0"/>
              <a:t> (cross-stable), move it to the front and the static header behind it, so different </a:t>
            </a:r>
            <a:r>
              <a:rPr lang="en-US" dirty="0" err="1"/>
              <a:t>callsites</a:t>
            </a:r>
            <a:r>
              <a:rPr lang="en-US" dirty="0"/>
              <a:t> share one prefix.</a:t>
            </a:r>
          </a:p>
          <a:p>
            <a:pPr marL="0" indent="0">
              <a:buNone/>
            </a:pPr>
            <a:r>
              <a:rPr lang="en-US" dirty="0"/>
              <a:t>KV </a:t>
            </a:r>
            <a:r>
              <a:rPr lang="en-US" altLang="zh-CN" dirty="0"/>
              <a:t>management</a:t>
            </a:r>
            <a:r>
              <a:rPr lang="en-US" dirty="0"/>
              <a:t>: prefetch by deadline, protect reuse, evict volatile. </a:t>
            </a:r>
          </a:p>
          <a:p>
            <a:pPr marL="514350" indent="-514350">
              <a:buFont typeface="+mj-lt"/>
              <a:buAutoNum type="arabicPeriod"/>
            </a:pPr>
            <a:r>
              <a:rPr lang="en-US" dirty="0"/>
              <a:t>Predict the next call's prompt from the learned rules and agent structures; promote its host-resident prefix before the deadline, reclaiming only retired cache.</a:t>
            </a:r>
          </a:p>
          <a:p>
            <a:pPr marL="514350" indent="-514350">
              <a:buFont typeface="+mj-lt"/>
              <a:buAutoNum type="arabicPeriod"/>
            </a:pPr>
            <a:r>
              <a:rPr lang="en-US" dirty="0"/>
              <a:t>Device eviction in four bands: retired &lt; transient &lt; unclassified &lt; planned; Evict retired </a:t>
            </a:r>
            <a:r>
              <a:rPr lang="en-US" dirty="0" err="1"/>
              <a:t>kvcache</a:t>
            </a:r>
            <a:r>
              <a:rPr lang="en-US" dirty="0"/>
              <a:t> first, </a:t>
            </a:r>
            <a:r>
              <a:rPr lang="en-US" altLang="zh-CN" dirty="0"/>
              <a:t>planned </a:t>
            </a:r>
            <a:r>
              <a:rPr lang="en-US" altLang="zh-CN" dirty="0" err="1"/>
              <a:t>kvcache</a:t>
            </a:r>
            <a:r>
              <a:rPr lang="en-US" dirty="0"/>
              <a:t> are ranked by predicted reuse time.</a:t>
            </a:r>
          </a:p>
          <a:p>
            <a:pPr marL="514350" indent="-514350">
              <a:buFont typeface="+mj-lt"/>
              <a:buAutoNum type="arabicPeriod"/>
            </a:pPr>
            <a:r>
              <a:rPr lang="en-US" dirty="0"/>
              <a:t>Host tier stays LRU as the safety net.</a:t>
            </a:r>
          </a:p>
        </p:txBody>
      </p:sp>
    </p:spTree>
    <p:extLst>
      <p:ext uri="{BB962C8B-B14F-4D97-AF65-F5344CB8AC3E}">
        <p14:creationId xmlns:p14="http://schemas.microsoft.com/office/powerpoint/2010/main" val="415416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AA5DA-0BFC-4E19-AB26-1681594D6005}"/>
              </a:ext>
            </a:extLst>
          </p:cNvPr>
          <p:cNvSpPr>
            <a:spLocks noGrp="1"/>
          </p:cNvSpPr>
          <p:nvPr>
            <p:ph type="title"/>
          </p:nvPr>
        </p:nvSpPr>
        <p:spPr/>
        <p:txBody>
          <a:bodyPr/>
          <a:lstStyle/>
          <a:p>
            <a:r>
              <a:rPr lang="en-US" dirty="0"/>
              <a:t>Eval</a:t>
            </a:r>
          </a:p>
        </p:txBody>
      </p:sp>
      <p:sp>
        <p:nvSpPr>
          <p:cNvPr id="3" name="Content Placeholder 2">
            <a:extLst>
              <a:ext uri="{FF2B5EF4-FFF2-40B4-BE49-F238E27FC236}">
                <a16:creationId xmlns:a16="http://schemas.microsoft.com/office/drawing/2014/main" id="{BB06B3BD-43E3-CDFA-FA4B-2E6C8A81FD76}"/>
              </a:ext>
            </a:extLst>
          </p:cNvPr>
          <p:cNvSpPr>
            <a:spLocks noGrp="1"/>
          </p:cNvSpPr>
          <p:nvPr>
            <p:ph idx="1"/>
          </p:nvPr>
        </p:nvSpPr>
        <p:spPr/>
        <p:txBody>
          <a:bodyPr>
            <a:normAutofit/>
          </a:bodyPr>
          <a:lstStyle/>
          <a:p>
            <a:pPr marL="0" indent="0">
              <a:buNone/>
            </a:pPr>
            <a:r>
              <a:rPr lang="en-US" dirty="0"/>
              <a:t>Serving Stack</a:t>
            </a:r>
          </a:p>
          <a:p>
            <a:r>
              <a:rPr lang="en-US" sz="1800" dirty="0"/>
              <a:t>RTX 3090 (24 GB), Qwen3-8B in bf16</a:t>
            </a:r>
            <a:r>
              <a:rPr lang="en-US" altLang="zh-CN" sz="1800" dirty="0"/>
              <a:t>, device cache pool 4.7 GB</a:t>
            </a:r>
          </a:p>
          <a:p>
            <a:r>
              <a:rPr lang="en-US" sz="1800" dirty="0"/>
              <a:t>Code Agent (Human Eval dataset); Fact Check (</a:t>
            </a:r>
            <a:r>
              <a:rPr lang="en-US" sz="1800" dirty="0" err="1"/>
              <a:t>HoVer</a:t>
            </a:r>
            <a:r>
              <a:rPr lang="en-US" sz="1800" dirty="0"/>
              <a:t> dataset)</a:t>
            </a:r>
          </a:p>
          <a:p>
            <a:pPr marL="0" indent="0">
              <a:buNone/>
            </a:pPr>
            <a:r>
              <a:rPr lang="en-US" altLang="zh-CN" dirty="0"/>
              <a:t>Baselines:</a:t>
            </a:r>
          </a:p>
          <a:p>
            <a:pPr marL="514350" indent="-514350">
              <a:buFont typeface="+mj-lt"/>
              <a:buAutoNum type="arabicPeriod"/>
            </a:pPr>
            <a:r>
              <a:rPr lang="en-US" sz="2000" dirty="0" err="1"/>
              <a:t>SGLang</a:t>
            </a:r>
            <a:r>
              <a:rPr lang="en-US" sz="2000" dirty="0"/>
              <a:t> with standard </a:t>
            </a:r>
            <a:r>
              <a:rPr lang="en-US" sz="2000" dirty="0" err="1"/>
              <a:t>HiCache</a:t>
            </a:r>
            <a:r>
              <a:rPr lang="en-US" sz="2000" dirty="0"/>
              <a:t>.  </a:t>
            </a:r>
          </a:p>
          <a:p>
            <a:pPr marL="514350" indent="-514350">
              <a:buFont typeface="+mj-lt"/>
              <a:buAutoNum type="arabicPeriod"/>
            </a:pPr>
            <a:r>
              <a:rPr lang="en-US" sz="2000" dirty="0" err="1"/>
              <a:t>CacheScout</a:t>
            </a:r>
            <a:r>
              <a:rPr lang="en-US" sz="2000" dirty="0"/>
              <a:t> (</a:t>
            </a:r>
            <a:r>
              <a:rPr lang="en-US" sz="2000" dirty="0" err="1"/>
              <a:t>arXiv</a:t>
            </a:r>
            <a:r>
              <a:rPr lang="en-US" sz="2000" dirty="0"/>
              <a:t> 2608.14624): opaque baseline. Predict future LLM calls based on prompt fingerprint and Markov Model. (horizon 3, prefetch threshold 0.5)</a:t>
            </a:r>
          </a:p>
          <a:p>
            <a:pPr marL="514350" indent="-514350">
              <a:buFont typeface="+mj-lt"/>
              <a:buAutoNum type="arabicPeriod"/>
            </a:pPr>
            <a:r>
              <a:rPr lang="en-US" sz="2000" dirty="0"/>
              <a:t>Re-layout only: LRU eviction plus our relowering-driven prompt re-layout. </a:t>
            </a:r>
          </a:p>
          <a:p>
            <a:pPr marL="514350" indent="-514350">
              <a:buFont typeface="+mj-lt"/>
              <a:buAutoNum type="arabicPeriod"/>
            </a:pPr>
            <a:r>
              <a:rPr lang="en-US" sz="2000" dirty="0"/>
              <a:t>Planner only: our KV manager on the original layout. </a:t>
            </a:r>
          </a:p>
        </p:txBody>
      </p:sp>
    </p:spTree>
    <p:extLst>
      <p:ext uri="{BB962C8B-B14F-4D97-AF65-F5344CB8AC3E}">
        <p14:creationId xmlns:p14="http://schemas.microsoft.com/office/powerpoint/2010/main" val="4147397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C2C0A-66BD-A996-20D3-28C3E08C257C}"/>
              </a:ext>
            </a:extLst>
          </p:cNvPr>
          <p:cNvSpPr>
            <a:spLocks noGrp="1"/>
          </p:cNvSpPr>
          <p:nvPr>
            <p:ph type="title"/>
          </p:nvPr>
        </p:nvSpPr>
        <p:spPr/>
        <p:txBody>
          <a:bodyPr>
            <a:normAutofit fontScale="90000"/>
          </a:bodyPr>
          <a:lstStyle/>
          <a:p>
            <a:r>
              <a:rPr lang="en-US" dirty="0"/>
              <a:t>Preliminary: serving transformations preserve comparable application-level task quality</a:t>
            </a:r>
          </a:p>
        </p:txBody>
      </p:sp>
      <p:pic>
        <p:nvPicPr>
          <p:cNvPr id="5" name="Content Placeholder 4">
            <a:extLst>
              <a:ext uri="{FF2B5EF4-FFF2-40B4-BE49-F238E27FC236}">
                <a16:creationId xmlns:a16="http://schemas.microsoft.com/office/drawing/2014/main" id="{4FF3B81B-314E-025E-DBAB-07E52C069CC5}"/>
              </a:ext>
            </a:extLst>
          </p:cNvPr>
          <p:cNvPicPr>
            <a:picLocks noGrp="1" noChangeAspect="1"/>
          </p:cNvPicPr>
          <p:nvPr>
            <p:ph idx="1"/>
          </p:nvPr>
        </p:nvPicPr>
        <p:blipFill>
          <a:blip r:embed="rId2"/>
          <a:stretch>
            <a:fillRect/>
          </a:stretch>
        </p:blipFill>
        <p:spPr>
          <a:xfrm>
            <a:off x="215224" y="4386268"/>
            <a:ext cx="6749226" cy="2249742"/>
          </a:xfrm>
          <a:prstGeom prst="rect">
            <a:avLst/>
          </a:prstGeom>
        </p:spPr>
      </p:pic>
      <p:pic>
        <p:nvPicPr>
          <p:cNvPr id="7" name="Picture 6">
            <a:extLst>
              <a:ext uri="{FF2B5EF4-FFF2-40B4-BE49-F238E27FC236}">
                <a16:creationId xmlns:a16="http://schemas.microsoft.com/office/drawing/2014/main" id="{6BF428CD-B582-62A6-DD51-0AAEDFAEAD4A}"/>
              </a:ext>
            </a:extLst>
          </p:cNvPr>
          <p:cNvPicPr>
            <a:picLocks noChangeAspect="1"/>
          </p:cNvPicPr>
          <p:nvPr/>
        </p:nvPicPr>
        <p:blipFill>
          <a:blip r:embed="rId3"/>
          <a:stretch>
            <a:fillRect/>
          </a:stretch>
        </p:blipFill>
        <p:spPr>
          <a:xfrm>
            <a:off x="292584" y="1988894"/>
            <a:ext cx="6671866" cy="2223956"/>
          </a:xfrm>
          <a:prstGeom prst="rect">
            <a:avLst/>
          </a:prstGeom>
        </p:spPr>
      </p:pic>
      <p:graphicFrame>
        <p:nvGraphicFramePr>
          <p:cNvPr id="10" name="Table 9">
            <a:extLst>
              <a:ext uri="{FF2B5EF4-FFF2-40B4-BE49-F238E27FC236}">
                <a16:creationId xmlns:a16="http://schemas.microsoft.com/office/drawing/2014/main" id="{8BD4C63B-AE9E-4252-270D-B9C34C3421E6}"/>
              </a:ext>
            </a:extLst>
          </p:cNvPr>
          <p:cNvGraphicFramePr/>
          <p:nvPr>
            <p:extLst>
              <p:ext uri="{D42A27DB-BD31-4B8C-83A1-F6EECF244321}">
                <p14:modId xmlns:p14="http://schemas.microsoft.com/office/powerpoint/2010/main" val="3476998318"/>
              </p:ext>
            </p:extLst>
          </p:nvPr>
        </p:nvGraphicFramePr>
        <p:xfrm>
          <a:off x="7172689" y="1789690"/>
          <a:ext cx="4934966" cy="4846320"/>
        </p:xfrm>
        <a:graphic>
          <a:graphicData uri="http://schemas.openxmlformats.org/drawingml/2006/table">
            <a:tbl>
              <a:tblPr>
                <a:tableStyleId>{616DA210-FB5B-4158-B5E0-FEB733F419BA}</a:tableStyleId>
              </a:tblPr>
              <a:tblGrid>
                <a:gridCol w="1303248">
                  <a:extLst>
                    <a:ext uri="{9D8B030D-6E8A-4147-A177-3AD203B41FA5}">
                      <a16:colId xmlns:a16="http://schemas.microsoft.com/office/drawing/2014/main" val="20000"/>
                    </a:ext>
                  </a:extLst>
                </a:gridCol>
                <a:gridCol w="1777907">
                  <a:extLst>
                    <a:ext uri="{9D8B030D-6E8A-4147-A177-3AD203B41FA5}">
                      <a16:colId xmlns:a16="http://schemas.microsoft.com/office/drawing/2014/main" val="20001"/>
                    </a:ext>
                  </a:extLst>
                </a:gridCol>
                <a:gridCol w="1853811">
                  <a:extLst>
                    <a:ext uri="{9D8B030D-6E8A-4147-A177-3AD203B41FA5}">
                      <a16:colId xmlns:a16="http://schemas.microsoft.com/office/drawing/2014/main" val="20002"/>
                    </a:ext>
                  </a:extLst>
                </a:gridCol>
              </a:tblGrid>
              <a:tr h="816985">
                <a:tc>
                  <a:txBody>
                    <a:bodyPr/>
                    <a:lstStyle/>
                    <a:p>
                      <a:pPr algn="l"/>
                      <a:r>
                        <a:rPr sz="1600" b="1" dirty="0">
                          <a:solidFill>
                            <a:schemeClr val="tx1"/>
                          </a:solidFill>
                        </a:rPr>
                        <a:t>Arm</a:t>
                      </a:r>
                      <a:r>
                        <a:rPr lang="en-US" sz="1600" b="1" dirty="0">
                          <a:solidFill>
                            <a:schemeClr val="tx1"/>
                          </a:solidFill>
                        </a:rPr>
                        <a:t> /</a:t>
                      </a:r>
                    </a:p>
                    <a:p>
                      <a:pPr algn="l"/>
                      <a:r>
                        <a:rPr lang="en-US" sz="1600" b="1" dirty="0">
                          <a:solidFill>
                            <a:schemeClr val="tx1"/>
                          </a:solidFill>
                        </a:rPr>
                        <a:t>Success Rate</a:t>
                      </a:r>
                      <a:endParaRPr sz="1600" b="1" dirty="0">
                        <a:solidFill>
                          <a:schemeClr val="tx1"/>
                        </a:solidFill>
                        <a:latin typeface="+mj-lt"/>
                        <a:ea typeface="Bitstream Charter"/>
                        <a:cs typeface="Bitstream Charter"/>
                      </a:endParaRPr>
                    </a:p>
                  </a:txBody>
                  <a:tcPr marL="190500" marR="190500" marT="114300" marB="114300" anchor="ctr"/>
                </a:tc>
                <a:tc>
                  <a:txBody>
                    <a:bodyPr/>
                    <a:lstStyle/>
                    <a:p>
                      <a:pPr algn="ctr"/>
                      <a:r>
                        <a:rPr sz="1600" b="1" dirty="0">
                          <a:solidFill>
                            <a:schemeClr val="tx1"/>
                          </a:solidFill>
                        </a:rPr>
                        <a:t>Coding agent</a:t>
                      </a:r>
                      <a:endParaRPr sz="1600" b="1" dirty="0">
                        <a:solidFill>
                          <a:schemeClr val="tx1"/>
                        </a:solidFill>
                        <a:latin typeface="+mj-lt"/>
                        <a:ea typeface="Bitstream Charter"/>
                        <a:cs typeface="Bitstream Charter"/>
                      </a:endParaRPr>
                    </a:p>
                  </a:txBody>
                  <a:tcPr marL="190500" marR="190500" marT="114300" marB="114300" anchor="ctr"/>
                </a:tc>
                <a:tc>
                  <a:txBody>
                    <a:bodyPr/>
                    <a:lstStyle/>
                    <a:p>
                      <a:pPr algn="ctr"/>
                      <a:r>
                        <a:rPr sz="1600" b="1" dirty="0">
                          <a:solidFill>
                            <a:schemeClr val="tx1"/>
                          </a:solidFill>
                        </a:rPr>
                        <a:t>Fact check</a:t>
                      </a:r>
                      <a:endParaRPr sz="1600" b="1" dirty="0">
                        <a:solidFill>
                          <a:schemeClr val="tx1"/>
                        </a:solidFill>
                        <a:latin typeface="+mj-lt"/>
                        <a:ea typeface="Bitstream Charter"/>
                        <a:cs typeface="Bitstream Charter"/>
                      </a:endParaRPr>
                    </a:p>
                  </a:txBody>
                  <a:tcPr marL="190500" marR="190500" marT="114300" marB="114300" anchor="ctr"/>
                </a:tc>
                <a:extLst>
                  <a:ext uri="{0D108BD9-81ED-4DB2-BD59-A6C34878D82A}">
                    <a16:rowId xmlns:a16="http://schemas.microsoft.com/office/drawing/2014/main" val="10000"/>
                  </a:ext>
                </a:extLst>
              </a:tr>
              <a:tr h="692053">
                <a:tc>
                  <a:txBody>
                    <a:bodyPr/>
                    <a:lstStyle/>
                    <a:p>
                      <a:pPr algn="l"/>
                      <a:r>
                        <a:rPr sz="1800" b="0">
                          <a:solidFill>
                            <a:srgbClr val="172B43"/>
                          </a:solidFill>
                        </a:rPr>
                        <a:t>SGLang (LRU)</a:t>
                      </a:r>
                      <a:endParaRPr sz="1800" b="0">
                        <a:solidFill>
                          <a:srgbClr val="172B43"/>
                        </a:solidFill>
                        <a:latin typeface="+mj-lt"/>
                        <a:ea typeface="Bitstream Charter"/>
                        <a:cs typeface="Bitstream Charter"/>
                      </a:endParaRPr>
                    </a:p>
                  </a:txBody>
                  <a:tcPr marL="190500" marR="190500" marT="114300" marB="114300" anchor="ctr"/>
                </a:tc>
                <a:tc>
                  <a:txBody>
                    <a:bodyPr/>
                    <a:lstStyle/>
                    <a:p>
                      <a:pPr algn="ctr"/>
                      <a:r>
                        <a:rPr sz="1800" b="0" dirty="0">
                          <a:solidFill>
                            <a:srgbClr val="172B43"/>
                          </a:solidFill>
                        </a:rPr>
                        <a:t>57.2%</a:t>
                      </a:r>
                      <a:endParaRPr sz="1800" b="0" dirty="0">
                        <a:solidFill>
                          <a:srgbClr val="172B43"/>
                        </a:solidFill>
                        <a:latin typeface="+mj-lt"/>
                        <a:ea typeface="Bitstream Charter"/>
                        <a:cs typeface="Bitstream Charter"/>
                      </a:endParaRPr>
                    </a:p>
                  </a:txBody>
                  <a:tcPr marL="190500" marR="190500" marT="114300" marB="114300" anchor="ctr"/>
                </a:tc>
                <a:tc>
                  <a:txBody>
                    <a:bodyPr/>
                    <a:lstStyle/>
                    <a:p>
                      <a:pPr algn="ctr"/>
                      <a:r>
                        <a:rPr sz="1800" b="0">
                          <a:solidFill>
                            <a:srgbClr val="172B43"/>
                          </a:solidFill>
                        </a:rPr>
                        <a:t>47.6%</a:t>
                      </a:r>
                      <a:endParaRPr sz="1800" b="0">
                        <a:solidFill>
                          <a:srgbClr val="172B43"/>
                        </a:solidFill>
                        <a:latin typeface="+mj-lt"/>
                        <a:ea typeface="Bitstream Charter"/>
                        <a:cs typeface="Bitstream Charter"/>
                      </a:endParaRPr>
                    </a:p>
                  </a:txBody>
                  <a:tcPr marL="190500" marR="190500" marT="114300" marB="114300" anchor="ctr"/>
                </a:tc>
                <a:extLst>
                  <a:ext uri="{0D108BD9-81ED-4DB2-BD59-A6C34878D82A}">
                    <a16:rowId xmlns:a16="http://schemas.microsoft.com/office/drawing/2014/main" val="10001"/>
                  </a:ext>
                </a:extLst>
              </a:tr>
              <a:tr h="692053">
                <a:tc>
                  <a:txBody>
                    <a:bodyPr/>
                    <a:lstStyle/>
                    <a:p>
                      <a:pPr algn="l"/>
                      <a:r>
                        <a:rPr sz="1800" b="0">
                          <a:solidFill>
                            <a:srgbClr val="172B43"/>
                          </a:solidFill>
                        </a:rPr>
                        <a:t>CacheScout</a:t>
                      </a:r>
                      <a:endParaRPr sz="1800" b="0">
                        <a:solidFill>
                          <a:srgbClr val="172B43"/>
                        </a:solidFill>
                        <a:latin typeface="+mj-lt"/>
                        <a:ea typeface="Bitstream Charter"/>
                        <a:cs typeface="Bitstream Charter"/>
                      </a:endParaRPr>
                    </a:p>
                  </a:txBody>
                  <a:tcPr marL="190500" marR="190500" marT="114300" marB="114300" anchor="ctr"/>
                </a:tc>
                <a:tc>
                  <a:txBody>
                    <a:bodyPr/>
                    <a:lstStyle/>
                    <a:p>
                      <a:pPr algn="ctr"/>
                      <a:r>
                        <a:rPr sz="1800" b="0">
                          <a:solidFill>
                            <a:srgbClr val="172B43"/>
                          </a:solidFill>
                        </a:rPr>
                        <a:t>57.2%</a:t>
                      </a:r>
                      <a:endParaRPr sz="1800" b="0">
                        <a:solidFill>
                          <a:srgbClr val="172B43"/>
                        </a:solidFill>
                        <a:latin typeface="+mj-lt"/>
                        <a:ea typeface="Bitstream Charter"/>
                        <a:cs typeface="Bitstream Charter"/>
                      </a:endParaRPr>
                    </a:p>
                  </a:txBody>
                  <a:tcPr marL="190500" marR="190500" marT="114300" marB="114300" anchor="ctr"/>
                </a:tc>
                <a:tc>
                  <a:txBody>
                    <a:bodyPr/>
                    <a:lstStyle/>
                    <a:p>
                      <a:pPr algn="ctr"/>
                      <a:r>
                        <a:rPr sz="1800" b="0">
                          <a:solidFill>
                            <a:srgbClr val="172B43"/>
                          </a:solidFill>
                        </a:rPr>
                        <a:t>47.2%</a:t>
                      </a:r>
                      <a:endParaRPr sz="1800" b="0">
                        <a:solidFill>
                          <a:srgbClr val="172B43"/>
                        </a:solidFill>
                        <a:latin typeface="+mj-lt"/>
                        <a:ea typeface="Bitstream Charter"/>
                        <a:cs typeface="Bitstream Charter"/>
                      </a:endParaRPr>
                    </a:p>
                  </a:txBody>
                  <a:tcPr marL="190500" marR="190500" marT="114300" marB="114300" anchor="ctr"/>
                </a:tc>
                <a:extLst>
                  <a:ext uri="{0D108BD9-81ED-4DB2-BD59-A6C34878D82A}">
                    <a16:rowId xmlns:a16="http://schemas.microsoft.com/office/drawing/2014/main" val="10002"/>
                  </a:ext>
                </a:extLst>
              </a:tr>
              <a:tr h="692053">
                <a:tc>
                  <a:txBody>
                    <a:bodyPr/>
                    <a:lstStyle/>
                    <a:p>
                      <a:pPr algn="l"/>
                      <a:r>
                        <a:rPr sz="1800" b="0">
                          <a:solidFill>
                            <a:srgbClr val="172B43"/>
                          </a:solidFill>
                        </a:rPr>
                        <a:t>Planner only</a:t>
                      </a:r>
                      <a:endParaRPr sz="1800" b="0">
                        <a:solidFill>
                          <a:srgbClr val="172B43"/>
                        </a:solidFill>
                        <a:latin typeface="+mj-lt"/>
                        <a:ea typeface="Bitstream Charter"/>
                        <a:cs typeface="Bitstream Charter"/>
                      </a:endParaRPr>
                    </a:p>
                  </a:txBody>
                  <a:tcPr marL="190500" marR="190500" marT="114300" marB="114300" anchor="ctr"/>
                </a:tc>
                <a:tc>
                  <a:txBody>
                    <a:bodyPr/>
                    <a:lstStyle/>
                    <a:p>
                      <a:pPr algn="ctr"/>
                      <a:r>
                        <a:rPr sz="1800" b="0">
                          <a:solidFill>
                            <a:srgbClr val="172B43"/>
                          </a:solidFill>
                        </a:rPr>
                        <a:t>54.9%</a:t>
                      </a:r>
                      <a:endParaRPr sz="1800" b="0">
                        <a:solidFill>
                          <a:srgbClr val="172B43"/>
                        </a:solidFill>
                        <a:latin typeface="+mj-lt"/>
                        <a:ea typeface="Bitstream Charter"/>
                        <a:cs typeface="Bitstream Charter"/>
                      </a:endParaRPr>
                    </a:p>
                  </a:txBody>
                  <a:tcPr marL="190500" marR="190500" marT="114300" marB="114300" anchor="ctr"/>
                </a:tc>
                <a:tc>
                  <a:txBody>
                    <a:bodyPr/>
                    <a:lstStyle/>
                    <a:p>
                      <a:pPr algn="ctr"/>
                      <a:r>
                        <a:rPr sz="1800" b="0">
                          <a:solidFill>
                            <a:srgbClr val="172B43"/>
                          </a:solidFill>
                        </a:rPr>
                        <a:t>46.2%</a:t>
                      </a:r>
                      <a:endParaRPr sz="1800" b="0">
                        <a:solidFill>
                          <a:srgbClr val="172B43"/>
                        </a:solidFill>
                        <a:latin typeface="+mj-lt"/>
                        <a:ea typeface="Bitstream Charter"/>
                        <a:cs typeface="Bitstream Charter"/>
                      </a:endParaRPr>
                    </a:p>
                  </a:txBody>
                  <a:tcPr marL="190500" marR="190500" marT="114300" marB="114300" anchor="ctr"/>
                </a:tc>
                <a:extLst>
                  <a:ext uri="{0D108BD9-81ED-4DB2-BD59-A6C34878D82A}">
                    <a16:rowId xmlns:a16="http://schemas.microsoft.com/office/drawing/2014/main" val="10003"/>
                  </a:ext>
                </a:extLst>
              </a:tr>
              <a:tr h="936307">
                <a:tc>
                  <a:txBody>
                    <a:bodyPr/>
                    <a:lstStyle/>
                    <a:p>
                      <a:pPr algn="l"/>
                      <a:r>
                        <a:rPr sz="1800" b="0">
                          <a:solidFill>
                            <a:srgbClr val="172B43"/>
                          </a:solidFill>
                        </a:rPr>
                        <a:t>Re-layout only</a:t>
                      </a:r>
                      <a:endParaRPr sz="1800" b="0">
                        <a:solidFill>
                          <a:srgbClr val="172B43"/>
                        </a:solidFill>
                        <a:latin typeface="+mj-lt"/>
                        <a:ea typeface="Bitstream Charter"/>
                        <a:cs typeface="Bitstream Charter"/>
                      </a:endParaRPr>
                    </a:p>
                  </a:txBody>
                  <a:tcPr marL="190500" marR="190500" marT="114300" marB="114300" anchor="ctr"/>
                </a:tc>
                <a:tc>
                  <a:txBody>
                    <a:bodyPr/>
                    <a:lstStyle/>
                    <a:p>
                      <a:pPr algn="ctr"/>
                      <a:r>
                        <a:rPr sz="1800" b="0">
                          <a:solidFill>
                            <a:srgbClr val="172B43"/>
                          </a:solidFill>
                        </a:rPr>
                        <a:t>56.4%</a:t>
                      </a:r>
                      <a:endParaRPr sz="1800" b="0">
                        <a:solidFill>
                          <a:srgbClr val="172B43"/>
                        </a:solidFill>
                        <a:latin typeface="+mj-lt"/>
                        <a:ea typeface="Bitstream Charter"/>
                        <a:cs typeface="Bitstream Charter"/>
                      </a:endParaRPr>
                    </a:p>
                  </a:txBody>
                  <a:tcPr marL="190500" marR="190500" marT="114300" marB="114300" anchor="ctr"/>
                </a:tc>
                <a:tc>
                  <a:txBody>
                    <a:bodyPr/>
                    <a:lstStyle/>
                    <a:p>
                      <a:pPr algn="ctr"/>
                      <a:r>
                        <a:rPr sz="1800" b="0">
                          <a:solidFill>
                            <a:srgbClr val="172B43"/>
                          </a:solidFill>
                        </a:rPr>
                        <a:t>45.5%</a:t>
                      </a:r>
                      <a:endParaRPr sz="1800" b="0">
                        <a:solidFill>
                          <a:srgbClr val="172B43"/>
                        </a:solidFill>
                        <a:latin typeface="+mj-lt"/>
                        <a:ea typeface="Bitstream Charter"/>
                        <a:cs typeface="Bitstream Charter"/>
                      </a:endParaRPr>
                    </a:p>
                  </a:txBody>
                  <a:tcPr marL="190500" marR="190500" marT="114300" marB="114300" anchor="ctr"/>
                </a:tc>
                <a:extLst>
                  <a:ext uri="{0D108BD9-81ED-4DB2-BD59-A6C34878D82A}">
                    <a16:rowId xmlns:a16="http://schemas.microsoft.com/office/drawing/2014/main" val="10004"/>
                  </a:ext>
                </a:extLst>
              </a:tr>
              <a:tr h="447799">
                <a:tc>
                  <a:txBody>
                    <a:bodyPr/>
                    <a:lstStyle/>
                    <a:p>
                      <a:pPr algn="l"/>
                      <a:r>
                        <a:rPr sz="1800" b="0" dirty="0">
                          <a:solidFill>
                            <a:srgbClr val="172B43"/>
                          </a:solidFill>
                        </a:rPr>
                        <a:t>Ours</a:t>
                      </a:r>
                      <a:endParaRPr sz="1800" b="0" dirty="0">
                        <a:solidFill>
                          <a:srgbClr val="172B43"/>
                        </a:solidFill>
                        <a:latin typeface="+mj-lt"/>
                        <a:ea typeface="Bitstream Charter"/>
                        <a:cs typeface="Bitstream Charter"/>
                      </a:endParaRPr>
                    </a:p>
                  </a:txBody>
                  <a:tcPr marL="190500" marR="190500" marT="114300" marB="114300" anchor="ctr"/>
                </a:tc>
                <a:tc>
                  <a:txBody>
                    <a:bodyPr/>
                    <a:lstStyle/>
                    <a:p>
                      <a:pPr algn="ctr"/>
                      <a:r>
                        <a:rPr sz="1800" b="0" dirty="0">
                          <a:solidFill>
                            <a:srgbClr val="172B43"/>
                          </a:solidFill>
                        </a:rPr>
                        <a:t>58.0%</a:t>
                      </a:r>
                      <a:endParaRPr sz="1800" b="0" dirty="0">
                        <a:solidFill>
                          <a:srgbClr val="172B43"/>
                        </a:solidFill>
                        <a:latin typeface="+mj-lt"/>
                        <a:ea typeface="Bitstream Charter"/>
                        <a:cs typeface="Bitstream Charter"/>
                      </a:endParaRPr>
                    </a:p>
                  </a:txBody>
                  <a:tcPr marL="190500" marR="190500" marT="114300" marB="114300" anchor="ctr"/>
                </a:tc>
                <a:tc>
                  <a:txBody>
                    <a:bodyPr/>
                    <a:lstStyle/>
                    <a:p>
                      <a:pPr algn="ctr"/>
                      <a:r>
                        <a:rPr sz="1800" b="0" dirty="0">
                          <a:solidFill>
                            <a:srgbClr val="172B43"/>
                          </a:solidFill>
                        </a:rPr>
                        <a:t>45.3%</a:t>
                      </a:r>
                      <a:endParaRPr sz="1800" b="0" dirty="0">
                        <a:solidFill>
                          <a:srgbClr val="172B43"/>
                        </a:solidFill>
                        <a:latin typeface="+mj-lt"/>
                        <a:ea typeface="Bitstream Charter"/>
                        <a:cs typeface="Bitstream Charter"/>
                      </a:endParaRPr>
                    </a:p>
                  </a:txBody>
                  <a:tcPr marL="190500" marR="190500" marT="114300" marB="11430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61563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8FE910-1992-85F6-DD15-FE46F41C0E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34" y="124721"/>
            <a:ext cx="7154907" cy="2751102"/>
          </a:xfrm>
          <a:prstGeom prst="rect">
            <a:avLst/>
          </a:prstGeom>
        </p:spPr>
      </p:pic>
      <p:pic>
        <p:nvPicPr>
          <p:cNvPr id="12" name="Picture 11">
            <a:extLst>
              <a:ext uri="{FF2B5EF4-FFF2-40B4-BE49-F238E27FC236}">
                <a16:creationId xmlns:a16="http://schemas.microsoft.com/office/drawing/2014/main" id="{B082D592-3738-D235-9342-BB23C5AF6054}"/>
              </a:ext>
            </a:extLst>
          </p:cNvPr>
          <p:cNvPicPr>
            <a:picLocks noChangeAspect="1"/>
          </p:cNvPicPr>
          <p:nvPr/>
        </p:nvPicPr>
        <p:blipFill>
          <a:blip r:embed="rId3"/>
          <a:stretch/>
        </p:blipFill>
        <p:spPr>
          <a:xfrm>
            <a:off x="7581773" y="2640517"/>
            <a:ext cx="4270527" cy="2444492"/>
          </a:xfrm>
          <a:prstGeom prst="rect">
            <a:avLst/>
          </a:prstGeom>
        </p:spPr>
      </p:pic>
      <p:pic>
        <p:nvPicPr>
          <p:cNvPr id="14" name="Picture 13">
            <a:extLst>
              <a:ext uri="{FF2B5EF4-FFF2-40B4-BE49-F238E27FC236}">
                <a16:creationId xmlns:a16="http://schemas.microsoft.com/office/drawing/2014/main" id="{8963ECE7-D18C-3FBF-D2D5-FD0CF158B637}"/>
              </a:ext>
            </a:extLst>
          </p:cNvPr>
          <p:cNvPicPr>
            <a:picLocks noChangeAspect="1"/>
          </p:cNvPicPr>
          <p:nvPr/>
        </p:nvPicPr>
        <p:blipFill>
          <a:blip r:embed="rId4"/>
          <a:stretch/>
        </p:blipFill>
        <p:spPr>
          <a:xfrm>
            <a:off x="7650534" y="124720"/>
            <a:ext cx="4129000" cy="2362233"/>
          </a:xfrm>
          <a:prstGeom prst="rect">
            <a:avLst/>
          </a:prstGeom>
        </p:spPr>
      </p:pic>
      <p:pic>
        <p:nvPicPr>
          <p:cNvPr id="16" name="Picture 15">
            <a:extLst>
              <a:ext uri="{FF2B5EF4-FFF2-40B4-BE49-F238E27FC236}">
                <a16:creationId xmlns:a16="http://schemas.microsoft.com/office/drawing/2014/main" id="{3843043E-0233-A271-292D-2B96170B0D94}"/>
              </a:ext>
            </a:extLst>
          </p:cNvPr>
          <p:cNvPicPr>
            <a:picLocks noChangeAspect="1"/>
          </p:cNvPicPr>
          <p:nvPr/>
        </p:nvPicPr>
        <p:blipFill>
          <a:blip r:embed="rId5"/>
          <a:stretch/>
        </p:blipFill>
        <p:spPr>
          <a:xfrm>
            <a:off x="116622" y="3067851"/>
            <a:ext cx="7407984" cy="1948690"/>
          </a:xfrm>
          <a:prstGeom prst="rect">
            <a:avLst/>
          </a:prstGeom>
        </p:spPr>
      </p:pic>
      <p:sp>
        <p:nvSpPr>
          <p:cNvPr id="17" name="TextBox 16">
            <a:extLst>
              <a:ext uri="{FF2B5EF4-FFF2-40B4-BE49-F238E27FC236}">
                <a16:creationId xmlns:a16="http://schemas.microsoft.com/office/drawing/2014/main" id="{C6A27F14-850D-BC63-A566-B5032733B4A9}"/>
              </a:ext>
            </a:extLst>
          </p:cNvPr>
          <p:cNvSpPr txBox="1"/>
          <p:nvPr/>
        </p:nvSpPr>
        <p:spPr>
          <a:xfrm>
            <a:off x="272226" y="5277037"/>
            <a:ext cx="11580074" cy="1815882"/>
          </a:xfrm>
          <a:prstGeom prst="rect">
            <a:avLst/>
          </a:prstGeom>
          <a:noFill/>
        </p:spPr>
        <p:txBody>
          <a:bodyPr wrap="square" rtlCol="0">
            <a:spAutoFit/>
          </a:bodyPr>
          <a:lstStyle/>
          <a:p>
            <a:r>
              <a:rPr lang="en-US" sz="1600" dirty="0"/>
              <a:t>Primary results for Code Agent at different concurrency. (Host=8GB)</a:t>
            </a:r>
          </a:p>
          <a:p>
            <a:pPr marL="342900" indent="-342900">
              <a:buFont typeface="+mj-lt"/>
              <a:buAutoNum type="arabicPeriod"/>
            </a:pPr>
            <a:r>
              <a:rPr lang="en-US" sz="1600" dirty="0"/>
              <a:t>Initially (c</a:t>
            </a:r>
            <a:r>
              <a:rPr lang="en-US" altLang="zh-CN" sz="1600" dirty="0"/>
              <a:t>&lt;= 28</a:t>
            </a:r>
            <a:r>
              <a:rPr lang="en-US" sz="1600" dirty="0"/>
              <a:t>), re-layout creates all improvements. Because it creates shared prefix and thus reduced cache pressure.</a:t>
            </a:r>
          </a:p>
          <a:p>
            <a:pPr marL="342900" indent="-342900">
              <a:buFont typeface="+mj-lt"/>
              <a:buAutoNum type="arabicPeriod"/>
            </a:pPr>
            <a:r>
              <a:rPr lang="en-US" sz="1600" dirty="0"/>
              <a:t>For 20&lt;=c</a:t>
            </a:r>
            <a:r>
              <a:rPr lang="en-US" altLang="zh-CN" sz="1600" dirty="0"/>
              <a:t>&lt;=28, the benefit of </a:t>
            </a:r>
            <a:r>
              <a:rPr lang="en-US" sz="1600" dirty="0"/>
              <a:t>KV </a:t>
            </a:r>
            <a:r>
              <a:rPr lang="en-US" altLang="zh-CN" sz="1600" dirty="0"/>
              <a:t>management is higher device hit rate. But because </a:t>
            </a:r>
            <a:r>
              <a:rPr lang="en-US" altLang="zh-CN" sz="1600" dirty="0" err="1"/>
              <a:t>SGLang</a:t>
            </a:r>
            <a:r>
              <a:rPr lang="en-US" altLang="zh-CN" sz="1600" dirty="0"/>
              <a:t> </a:t>
            </a:r>
            <a:r>
              <a:rPr lang="en-US" altLang="zh-CN" sz="1600" dirty="0" err="1"/>
              <a:t>HiCache</a:t>
            </a:r>
            <a:r>
              <a:rPr lang="en-US" altLang="zh-CN" sz="1600" dirty="0"/>
              <a:t> has excellent kernel assisted IO, fetch </a:t>
            </a:r>
            <a:r>
              <a:rPr lang="en-US" altLang="zh-CN" sz="1600" dirty="0" err="1"/>
              <a:t>kv</a:t>
            </a:r>
            <a:r>
              <a:rPr lang="en-US" altLang="zh-CN" sz="1600" dirty="0"/>
              <a:t> from host is nearly free.</a:t>
            </a:r>
          </a:p>
          <a:p>
            <a:pPr marL="342900" indent="-342900">
              <a:buFont typeface="+mj-lt"/>
              <a:buAutoNum type="arabicPeriod"/>
            </a:pPr>
            <a:r>
              <a:rPr lang="en-US" altLang="zh-CN" sz="1600" dirty="0"/>
              <a:t>When concurrency grows (c&gt;=36), rely only on reordering prompt cannot help. KV Management evict caches that won’t be used so that it reduces cache miss rate, which improved performance. </a:t>
            </a:r>
          </a:p>
          <a:p>
            <a:pPr marL="342900" indent="-342900">
              <a:buFont typeface="+mj-lt"/>
              <a:buAutoNum type="arabicPeriod"/>
            </a:pPr>
            <a:endParaRPr lang="en-US" sz="1600" dirty="0"/>
          </a:p>
        </p:txBody>
      </p:sp>
    </p:spTree>
    <p:extLst>
      <p:ext uri="{BB962C8B-B14F-4D97-AF65-F5344CB8AC3E}">
        <p14:creationId xmlns:p14="http://schemas.microsoft.com/office/powerpoint/2010/main" val="1342736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0218A-7FDE-3ABE-9658-CAF0998E9DE5}"/>
              </a:ext>
            </a:extLst>
          </p:cNvPr>
          <p:cNvSpPr>
            <a:spLocks noGrp="1"/>
          </p:cNvSpPr>
          <p:nvPr>
            <p:ph type="title"/>
          </p:nvPr>
        </p:nvSpPr>
        <p:spPr>
          <a:xfrm>
            <a:off x="928942" y="435439"/>
            <a:ext cx="10515600" cy="1325563"/>
          </a:xfrm>
        </p:spPr>
        <p:txBody>
          <a:bodyPr>
            <a:normAutofit/>
          </a:bodyPr>
          <a:lstStyle/>
          <a:p>
            <a:r>
              <a:rPr lang="en-US" sz="4000" dirty="0"/>
              <a:t>CDF for recomputed token ratio at representative concurrency</a:t>
            </a:r>
          </a:p>
        </p:txBody>
      </p:sp>
      <p:pic>
        <p:nvPicPr>
          <p:cNvPr id="5" name="Picture 4">
            <a:extLst>
              <a:ext uri="{FF2B5EF4-FFF2-40B4-BE49-F238E27FC236}">
                <a16:creationId xmlns:a16="http://schemas.microsoft.com/office/drawing/2014/main" id="{D91C691B-AF68-99D2-3CC9-72237A996F4D}"/>
              </a:ext>
            </a:extLst>
          </p:cNvPr>
          <p:cNvPicPr>
            <a:picLocks noChangeAspect="1"/>
          </p:cNvPicPr>
          <p:nvPr/>
        </p:nvPicPr>
        <p:blipFill>
          <a:blip r:embed="rId2"/>
          <a:stretch>
            <a:fillRect/>
          </a:stretch>
        </p:blipFill>
        <p:spPr>
          <a:xfrm>
            <a:off x="8089328" y="1942050"/>
            <a:ext cx="4035491" cy="2690327"/>
          </a:xfrm>
          <a:prstGeom prst="rect">
            <a:avLst/>
          </a:prstGeom>
        </p:spPr>
      </p:pic>
      <p:pic>
        <p:nvPicPr>
          <p:cNvPr id="7" name="Picture 6">
            <a:extLst>
              <a:ext uri="{FF2B5EF4-FFF2-40B4-BE49-F238E27FC236}">
                <a16:creationId xmlns:a16="http://schemas.microsoft.com/office/drawing/2014/main" id="{CD32750B-B1B5-66C4-1D2D-2E6ADFFC8B50}"/>
              </a:ext>
            </a:extLst>
          </p:cNvPr>
          <p:cNvPicPr>
            <a:picLocks noChangeAspect="1"/>
          </p:cNvPicPr>
          <p:nvPr/>
        </p:nvPicPr>
        <p:blipFill>
          <a:blip r:embed="rId3"/>
          <a:stretch>
            <a:fillRect/>
          </a:stretch>
        </p:blipFill>
        <p:spPr>
          <a:xfrm>
            <a:off x="4013589" y="1903048"/>
            <a:ext cx="4035489" cy="2690326"/>
          </a:xfrm>
          <a:prstGeom prst="rect">
            <a:avLst/>
          </a:prstGeom>
        </p:spPr>
      </p:pic>
      <p:pic>
        <p:nvPicPr>
          <p:cNvPr id="9" name="Picture 8">
            <a:extLst>
              <a:ext uri="{FF2B5EF4-FFF2-40B4-BE49-F238E27FC236}">
                <a16:creationId xmlns:a16="http://schemas.microsoft.com/office/drawing/2014/main" id="{CB9A5623-EB89-C6D5-6A63-77EA8D658D14}"/>
              </a:ext>
            </a:extLst>
          </p:cNvPr>
          <p:cNvPicPr>
            <a:picLocks noChangeAspect="1"/>
          </p:cNvPicPr>
          <p:nvPr/>
        </p:nvPicPr>
        <p:blipFill>
          <a:blip r:embed="rId4"/>
          <a:stretch>
            <a:fillRect/>
          </a:stretch>
        </p:blipFill>
        <p:spPr>
          <a:xfrm>
            <a:off x="95103" y="1942050"/>
            <a:ext cx="3918486" cy="2612323"/>
          </a:xfrm>
          <a:prstGeom prst="rect">
            <a:avLst/>
          </a:prstGeom>
        </p:spPr>
      </p:pic>
      <p:sp>
        <p:nvSpPr>
          <p:cNvPr id="10" name="TextBox 9">
            <a:extLst>
              <a:ext uri="{FF2B5EF4-FFF2-40B4-BE49-F238E27FC236}">
                <a16:creationId xmlns:a16="http://schemas.microsoft.com/office/drawing/2014/main" id="{0EF2796C-5492-E363-4888-0EFBC231C6FD}"/>
              </a:ext>
            </a:extLst>
          </p:cNvPr>
          <p:cNvSpPr txBox="1"/>
          <p:nvPr/>
        </p:nvSpPr>
        <p:spPr>
          <a:xfrm>
            <a:off x="153563" y="4774423"/>
            <a:ext cx="11691756" cy="1477328"/>
          </a:xfrm>
          <a:prstGeom prst="rect">
            <a:avLst/>
          </a:prstGeom>
          <a:noFill/>
        </p:spPr>
        <p:txBody>
          <a:bodyPr wrap="square" rtlCol="0">
            <a:spAutoFit/>
          </a:bodyPr>
          <a:lstStyle/>
          <a:p>
            <a:r>
              <a:rPr lang="en-US" dirty="0"/>
              <a:t>c=12, 28, 36 are chosen. We are focusing on rate of recomputed tokens in the input. </a:t>
            </a:r>
            <a:r>
              <a:rPr lang="en-US" altLang="zh-CN" dirty="0"/>
              <a:t>Re-prefill is what eats resources. </a:t>
            </a:r>
            <a:endParaRPr lang="en-US" dirty="0"/>
          </a:p>
          <a:p>
            <a:pPr marL="342900" indent="-342900">
              <a:buFont typeface="+mj-lt"/>
              <a:buAutoNum type="arabicPeriod"/>
            </a:pPr>
            <a:r>
              <a:rPr lang="en-US" dirty="0"/>
              <a:t>Initially, </a:t>
            </a:r>
            <a:r>
              <a:rPr lang="en-US" altLang="zh-CN" dirty="0"/>
              <a:t>enhancement is obtained from reordering of prompt. At median capacity, gains are device hit, </a:t>
            </a:r>
            <a:r>
              <a:rPr lang="en-US" altLang="zh-CN" dirty="0" err="1"/>
              <a:t>kv</a:t>
            </a:r>
            <a:r>
              <a:rPr lang="en-US" altLang="zh-CN" dirty="0"/>
              <a:t> management doesn’t reduce recompute tokens.</a:t>
            </a:r>
          </a:p>
          <a:p>
            <a:pPr marL="342900" indent="-342900">
              <a:buFont typeface="+mj-lt"/>
              <a:buAutoNum type="arabicPeriod"/>
            </a:pPr>
            <a:r>
              <a:rPr lang="en-US" dirty="0"/>
              <a:t>When pressure grew, </a:t>
            </a:r>
            <a:r>
              <a:rPr lang="en-US" dirty="0" err="1"/>
              <a:t>kv</a:t>
            </a:r>
            <a:r>
              <a:rPr lang="en-US" dirty="0"/>
              <a:t> management began to make sense based on the reduced pressure from prompt reordering. Ours has less tokens to recompute compared to re-layout only. </a:t>
            </a:r>
          </a:p>
        </p:txBody>
      </p:sp>
    </p:spTree>
    <p:extLst>
      <p:ext uri="{BB962C8B-B14F-4D97-AF65-F5344CB8AC3E}">
        <p14:creationId xmlns:p14="http://schemas.microsoft.com/office/powerpoint/2010/main" val="2363437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1145BFC-12CE-2F56-3C43-5EAC38801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26" y="132499"/>
            <a:ext cx="6826589" cy="2624862"/>
          </a:xfrm>
          <a:prstGeom prst="rect">
            <a:avLst/>
          </a:prstGeom>
        </p:spPr>
      </p:pic>
      <p:pic>
        <p:nvPicPr>
          <p:cNvPr id="13" name="Picture 12">
            <a:extLst>
              <a:ext uri="{FF2B5EF4-FFF2-40B4-BE49-F238E27FC236}">
                <a16:creationId xmlns:a16="http://schemas.microsoft.com/office/drawing/2014/main" id="{8B26AA18-F6B6-FEEA-4AD1-C78AEF48C9A5}"/>
              </a:ext>
            </a:extLst>
          </p:cNvPr>
          <p:cNvPicPr>
            <a:picLocks noChangeAspect="1"/>
          </p:cNvPicPr>
          <p:nvPr/>
        </p:nvPicPr>
        <p:blipFill>
          <a:blip r:embed="rId3"/>
          <a:stretch/>
        </p:blipFill>
        <p:spPr>
          <a:xfrm>
            <a:off x="7450877" y="132499"/>
            <a:ext cx="4003945" cy="2624863"/>
          </a:xfrm>
          <a:prstGeom prst="rect">
            <a:avLst/>
          </a:prstGeom>
        </p:spPr>
      </p:pic>
      <p:pic>
        <p:nvPicPr>
          <p:cNvPr id="15" name="Picture 14">
            <a:extLst>
              <a:ext uri="{FF2B5EF4-FFF2-40B4-BE49-F238E27FC236}">
                <a16:creationId xmlns:a16="http://schemas.microsoft.com/office/drawing/2014/main" id="{22530432-0108-696C-95BD-6346D0D2E7DE}"/>
              </a:ext>
            </a:extLst>
          </p:cNvPr>
          <p:cNvPicPr>
            <a:picLocks noChangeAspect="1"/>
          </p:cNvPicPr>
          <p:nvPr/>
        </p:nvPicPr>
        <p:blipFill>
          <a:blip r:embed="rId4"/>
          <a:stretch/>
        </p:blipFill>
        <p:spPr>
          <a:xfrm>
            <a:off x="7548599" y="2785389"/>
            <a:ext cx="3808500" cy="2495224"/>
          </a:xfrm>
          <a:prstGeom prst="rect">
            <a:avLst/>
          </a:prstGeom>
        </p:spPr>
      </p:pic>
      <p:pic>
        <p:nvPicPr>
          <p:cNvPr id="17" name="Picture 16">
            <a:extLst>
              <a:ext uri="{FF2B5EF4-FFF2-40B4-BE49-F238E27FC236}">
                <a16:creationId xmlns:a16="http://schemas.microsoft.com/office/drawing/2014/main" id="{3DE6C078-B01C-9B7E-F244-10C01066D918}"/>
              </a:ext>
            </a:extLst>
          </p:cNvPr>
          <p:cNvPicPr>
            <a:picLocks noChangeAspect="1"/>
          </p:cNvPicPr>
          <p:nvPr/>
        </p:nvPicPr>
        <p:blipFill>
          <a:blip r:embed="rId5"/>
          <a:stretch/>
        </p:blipFill>
        <p:spPr>
          <a:xfrm>
            <a:off x="372275" y="2885795"/>
            <a:ext cx="7026687" cy="2394818"/>
          </a:xfrm>
          <a:prstGeom prst="rect">
            <a:avLst/>
          </a:prstGeom>
        </p:spPr>
      </p:pic>
      <p:sp>
        <p:nvSpPr>
          <p:cNvPr id="18" name="TextBox 17">
            <a:extLst>
              <a:ext uri="{FF2B5EF4-FFF2-40B4-BE49-F238E27FC236}">
                <a16:creationId xmlns:a16="http://schemas.microsoft.com/office/drawing/2014/main" id="{45FD0B4B-6EEE-C57D-94F5-FC6F69D21F5E}"/>
              </a:ext>
            </a:extLst>
          </p:cNvPr>
          <p:cNvSpPr txBox="1"/>
          <p:nvPr/>
        </p:nvSpPr>
        <p:spPr>
          <a:xfrm>
            <a:off x="307126" y="5308640"/>
            <a:ext cx="11512599" cy="1477328"/>
          </a:xfrm>
          <a:prstGeom prst="rect">
            <a:avLst/>
          </a:prstGeom>
          <a:noFill/>
        </p:spPr>
        <p:txBody>
          <a:bodyPr wrap="square" rtlCol="0">
            <a:spAutoFit/>
          </a:bodyPr>
          <a:lstStyle/>
          <a:p>
            <a:r>
              <a:rPr lang="en-US" dirty="0"/>
              <a:t>Primary results for </a:t>
            </a:r>
            <a:r>
              <a:rPr lang="en-US" altLang="zh-CN" dirty="0" err="1"/>
              <a:t>FactCheck</a:t>
            </a:r>
            <a:r>
              <a:rPr lang="en-US" altLang="zh-CN" dirty="0"/>
              <a:t> </a:t>
            </a:r>
            <a:r>
              <a:rPr lang="en-US" dirty="0"/>
              <a:t>Agent at different concurrency. (Host=16GB)</a:t>
            </a:r>
          </a:p>
          <a:p>
            <a:pPr marL="342900" indent="-342900">
              <a:buFont typeface="+mj-lt"/>
              <a:buAutoNum type="arabicPeriod"/>
            </a:pPr>
            <a:r>
              <a:rPr lang="en-US" dirty="0"/>
              <a:t>When pressure is low</a:t>
            </a:r>
            <a:r>
              <a:rPr lang="en-US" altLang="zh-CN" dirty="0"/>
              <a:t>, </a:t>
            </a:r>
            <a:r>
              <a:rPr lang="en-US" altLang="zh-CN" dirty="0" err="1"/>
              <a:t>kvcache</a:t>
            </a:r>
            <a:r>
              <a:rPr lang="en-US" altLang="zh-CN" dirty="0"/>
              <a:t> only could improve performance by better management. </a:t>
            </a:r>
          </a:p>
          <a:p>
            <a:pPr marL="342900" indent="-342900">
              <a:buFont typeface="+mj-lt"/>
              <a:buAutoNum type="arabicPeriod"/>
            </a:pPr>
            <a:r>
              <a:rPr lang="en-US" dirty="0"/>
              <a:t>But when pressure grows </a:t>
            </a:r>
            <a:r>
              <a:rPr lang="en-US" altLang="zh-CN" dirty="0"/>
              <a:t>(KV &gt;= 14)</a:t>
            </a:r>
            <a:r>
              <a:rPr lang="en-US" dirty="0"/>
              <a:t>, there is no space for </a:t>
            </a:r>
            <a:r>
              <a:rPr lang="en-US" dirty="0" err="1"/>
              <a:t>kv</a:t>
            </a:r>
            <a:r>
              <a:rPr lang="en-US" dirty="0"/>
              <a:t> scheduling.  Then it collapsed.</a:t>
            </a:r>
          </a:p>
          <a:p>
            <a:pPr marL="342900" indent="-342900">
              <a:buFont typeface="+mj-lt"/>
              <a:buAutoNum type="arabicPeriod"/>
            </a:pPr>
            <a:r>
              <a:rPr lang="en-US" dirty="0"/>
              <a:t>Prompt re-layout creates more opportunities for prefix caching, thus reduces cache pressure. Not only increased performance but also left space for KV scheduling(So that Ours is better than Reorder-only) </a:t>
            </a:r>
          </a:p>
        </p:txBody>
      </p:sp>
    </p:spTree>
    <p:extLst>
      <p:ext uri="{BB962C8B-B14F-4D97-AF65-F5344CB8AC3E}">
        <p14:creationId xmlns:p14="http://schemas.microsoft.com/office/powerpoint/2010/main" val="1948576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4085-F46A-B6E8-35A7-90EDD88D17AE}"/>
              </a:ext>
            </a:extLst>
          </p:cNvPr>
          <p:cNvSpPr>
            <a:spLocks noGrp="1"/>
          </p:cNvSpPr>
          <p:nvPr>
            <p:ph type="title"/>
          </p:nvPr>
        </p:nvSpPr>
        <p:spPr/>
        <p:txBody>
          <a:bodyPr/>
          <a:lstStyle/>
          <a:p>
            <a:r>
              <a:rPr lang="en-US" dirty="0"/>
              <a:t>CDF for recomputed token ratio at representative concurrency</a:t>
            </a:r>
          </a:p>
        </p:txBody>
      </p:sp>
      <p:pic>
        <p:nvPicPr>
          <p:cNvPr id="5" name="Picture 4">
            <a:extLst>
              <a:ext uri="{FF2B5EF4-FFF2-40B4-BE49-F238E27FC236}">
                <a16:creationId xmlns:a16="http://schemas.microsoft.com/office/drawing/2014/main" id="{EC0702B8-FD84-F3DC-42AF-1F4F8F8C0DAF}"/>
              </a:ext>
            </a:extLst>
          </p:cNvPr>
          <p:cNvPicPr>
            <a:picLocks noChangeAspect="1"/>
          </p:cNvPicPr>
          <p:nvPr/>
        </p:nvPicPr>
        <p:blipFill>
          <a:blip r:embed="rId2"/>
          <a:stretch>
            <a:fillRect/>
          </a:stretch>
        </p:blipFill>
        <p:spPr>
          <a:xfrm>
            <a:off x="0" y="1908878"/>
            <a:ext cx="3727402" cy="2484935"/>
          </a:xfrm>
          <a:prstGeom prst="rect">
            <a:avLst/>
          </a:prstGeom>
        </p:spPr>
      </p:pic>
      <p:pic>
        <p:nvPicPr>
          <p:cNvPr id="7" name="Picture 6">
            <a:extLst>
              <a:ext uri="{FF2B5EF4-FFF2-40B4-BE49-F238E27FC236}">
                <a16:creationId xmlns:a16="http://schemas.microsoft.com/office/drawing/2014/main" id="{41039559-8F01-4642-B326-2A5DEEB5B406}"/>
              </a:ext>
            </a:extLst>
          </p:cNvPr>
          <p:cNvPicPr>
            <a:picLocks noChangeAspect="1"/>
          </p:cNvPicPr>
          <p:nvPr/>
        </p:nvPicPr>
        <p:blipFill>
          <a:blip r:embed="rId3"/>
          <a:stretch>
            <a:fillRect/>
          </a:stretch>
        </p:blipFill>
        <p:spPr>
          <a:xfrm>
            <a:off x="3942842" y="1784883"/>
            <a:ext cx="4099385" cy="2732923"/>
          </a:xfrm>
          <a:prstGeom prst="rect">
            <a:avLst/>
          </a:prstGeom>
        </p:spPr>
      </p:pic>
      <p:pic>
        <p:nvPicPr>
          <p:cNvPr id="9" name="Picture 8">
            <a:extLst>
              <a:ext uri="{FF2B5EF4-FFF2-40B4-BE49-F238E27FC236}">
                <a16:creationId xmlns:a16="http://schemas.microsoft.com/office/drawing/2014/main" id="{250CA503-1CA8-289F-48B7-39CD52DA8603}"/>
              </a:ext>
            </a:extLst>
          </p:cNvPr>
          <p:cNvPicPr>
            <a:picLocks noChangeAspect="1"/>
          </p:cNvPicPr>
          <p:nvPr/>
        </p:nvPicPr>
        <p:blipFill>
          <a:blip r:embed="rId4"/>
          <a:stretch>
            <a:fillRect/>
          </a:stretch>
        </p:blipFill>
        <p:spPr>
          <a:xfrm>
            <a:off x="8193756" y="1858174"/>
            <a:ext cx="3879510" cy="2586340"/>
          </a:xfrm>
          <a:prstGeom prst="rect">
            <a:avLst/>
          </a:prstGeom>
        </p:spPr>
      </p:pic>
      <p:sp>
        <p:nvSpPr>
          <p:cNvPr id="11" name="TextBox 10">
            <a:extLst>
              <a:ext uri="{FF2B5EF4-FFF2-40B4-BE49-F238E27FC236}">
                <a16:creationId xmlns:a16="http://schemas.microsoft.com/office/drawing/2014/main" id="{7586DD35-8B2D-15CE-8338-0F45E83F7D78}"/>
              </a:ext>
            </a:extLst>
          </p:cNvPr>
          <p:cNvSpPr txBox="1"/>
          <p:nvPr/>
        </p:nvSpPr>
        <p:spPr>
          <a:xfrm>
            <a:off x="250122" y="4685292"/>
            <a:ext cx="11691756" cy="2585323"/>
          </a:xfrm>
          <a:prstGeom prst="rect">
            <a:avLst/>
          </a:prstGeom>
          <a:noFill/>
        </p:spPr>
        <p:txBody>
          <a:bodyPr wrap="square" rtlCol="0">
            <a:spAutoFit/>
          </a:bodyPr>
          <a:lstStyle/>
          <a:p>
            <a:r>
              <a:rPr lang="en-US" dirty="0"/>
              <a:t>c= 8, 14, 18 are chosen.</a:t>
            </a:r>
            <a:r>
              <a:rPr lang="en-US" altLang="zh-CN" dirty="0"/>
              <a:t> </a:t>
            </a:r>
          </a:p>
          <a:p>
            <a:pPr marL="342900" indent="-342900">
              <a:buFont typeface="+mj-lt"/>
              <a:buAutoNum type="arabicPeriod"/>
            </a:pPr>
            <a:r>
              <a:rPr lang="en-US" altLang="zh-CN" dirty="0"/>
              <a:t>At c=8, every mechanism works. KV-planner can schedule </a:t>
            </a:r>
            <a:r>
              <a:rPr lang="en-US" altLang="zh-CN" dirty="0" err="1"/>
              <a:t>kvcache</a:t>
            </a:r>
            <a:r>
              <a:rPr lang="en-US" altLang="zh-CN" dirty="0"/>
              <a:t> more efficiently; Prompt re-layout improve performance by creating larger prefix cache reuse. </a:t>
            </a:r>
            <a:r>
              <a:rPr lang="en-US" altLang="zh-CN" dirty="0" err="1"/>
              <a:t>CacheScout</a:t>
            </a:r>
            <a:r>
              <a:rPr lang="en-US" altLang="zh-CN" dirty="0"/>
              <a:t> also reduced the ratio of recomputed tokens. But it is not as effective as our planner. </a:t>
            </a:r>
          </a:p>
          <a:p>
            <a:pPr marL="342900" indent="-342900">
              <a:buFont typeface="+mj-lt"/>
              <a:buAutoNum type="arabicPeriod"/>
            </a:pPr>
            <a:r>
              <a:rPr lang="en-US" altLang="zh-CN" dirty="0"/>
              <a:t>As workload increases, KV-planner’s gain decreased, even diminished, because there is no space for scheduling. Cache pressure is high, nothing can survive.</a:t>
            </a:r>
          </a:p>
          <a:p>
            <a:pPr marL="342900" indent="-342900">
              <a:buFont typeface="+mj-lt"/>
              <a:buAutoNum type="arabicPeriod"/>
            </a:pPr>
            <a:r>
              <a:rPr lang="en-US" altLang="zh-CN" dirty="0"/>
              <a:t>However, as 3 CDF showed. Ours, which is </a:t>
            </a:r>
            <a:r>
              <a:rPr lang="en-US" altLang="zh-CN" dirty="0" err="1"/>
              <a:t>kv</a:t>
            </a:r>
            <a:r>
              <a:rPr lang="en-US" altLang="zh-CN" dirty="0"/>
              <a:t>-planner + re-layout, performed best. Efficient KV Cache management can </a:t>
            </a:r>
            <a:r>
              <a:rPr lang="en-US" dirty="0"/>
              <a:t>earn extra optimization based on the reduced cache pressure provided by prompt re-layout.</a:t>
            </a:r>
            <a:endParaRPr lang="en-US" altLang="zh-CN" dirty="0"/>
          </a:p>
          <a:p>
            <a:pPr marL="342900" indent="-342900">
              <a:buFont typeface="+mj-lt"/>
              <a:buAutoNum type="arabicPeriod"/>
            </a:pPr>
            <a:endParaRPr lang="en-US" dirty="0"/>
          </a:p>
        </p:txBody>
      </p:sp>
    </p:spTree>
    <p:extLst>
      <p:ext uri="{BB962C8B-B14F-4D97-AF65-F5344CB8AC3E}">
        <p14:creationId xmlns:p14="http://schemas.microsoft.com/office/powerpoint/2010/main" val="3573386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09580-6FC9-CE76-B75E-0D20861FB650}"/>
              </a:ext>
            </a:extLst>
          </p:cNvPr>
          <p:cNvSpPr>
            <a:spLocks noGrp="1"/>
          </p:cNvSpPr>
          <p:nvPr>
            <p:ph type="title"/>
          </p:nvPr>
        </p:nvSpPr>
        <p:spPr/>
        <p:txBody>
          <a:bodyPr/>
          <a:lstStyle/>
          <a:p>
            <a:r>
              <a:rPr lang="en-US" altLang="zh-CN" dirty="0"/>
              <a:t>Generality: </a:t>
            </a:r>
            <a:r>
              <a:rPr lang="en-US" altLang="zh-CN" dirty="0" err="1"/>
              <a:t>DSPy</a:t>
            </a:r>
            <a:r>
              <a:rPr lang="en-US" altLang="zh-CN" dirty="0"/>
              <a:t>, same heterogeneity inside prompt</a:t>
            </a:r>
            <a:endParaRPr lang="en-US" dirty="0"/>
          </a:p>
        </p:txBody>
      </p:sp>
      <p:sp>
        <p:nvSpPr>
          <p:cNvPr id="3" name="Content Placeholder 2">
            <a:extLst>
              <a:ext uri="{FF2B5EF4-FFF2-40B4-BE49-F238E27FC236}">
                <a16:creationId xmlns:a16="http://schemas.microsoft.com/office/drawing/2014/main" id="{63C4EC1A-98C6-7961-3030-90997952DFEE}"/>
              </a:ext>
            </a:extLst>
          </p:cNvPr>
          <p:cNvSpPr>
            <a:spLocks noGrp="1"/>
          </p:cNvSpPr>
          <p:nvPr>
            <p:ph idx="1"/>
          </p:nvPr>
        </p:nvSpPr>
        <p:spPr>
          <a:xfrm>
            <a:off x="838200" y="1825626"/>
            <a:ext cx="10515600" cy="1325564"/>
          </a:xfrm>
        </p:spPr>
        <p:txBody>
          <a:bodyPr>
            <a:noAutofit/>
          </a:bodyPr>
          <a:lstStyle/>
          <a:p>
            <a:pPr marL="0" indent="0">
              <a:buNone/>
            </a:pPr>
            <a:r>
              <a:rPr lang="en-US" sz="2000" dirty="0">
                <a:ea typeface="Bitstream Charter"/>
                <a:cs typeface="Bitstream Charter"/>
              </a:rPr>
              <a:t>def implement(spec: str, plan: Plan, advice: str, attempts: list[Attempt]) -&gt; str by </a:t>
            </a:r>
            <a:r>
              <a:rPr lang="en-US" sz="2000" dirty="0" err="1">
                <a:ea typeface="Bitstream Charter"/>
                <a:cs typeface="Bitstream Charter"/>
              </a:rPr>
              <a:t>llm</a:t>
            </a:r>
            <a:r>
              <a:rPr lang="en-US" sz="2000" dirty="0">
                <a:ea typeface="Bitstream Charter"/>
                <a:cs typeface="Bitstream Charter"/>
              </a:rPr>
              <a:t>();</a:t>
            </a:r>
          </a:p>
          <a:p>
            <a:pPr marL="0" indent="0">
              <a:buNone/>
            </a:pPr>
            <a:r>
              <a:rPr lang="en-US" sz="2000" dirty="0">
                <a:ea typeface="Bitstream Charter"/>
                <a:cs typeface="Bitstream Charter"/>
              </a:rPr>
              <a:t>-------------------------------------------------------------------------------------------------------------</a:t>
            </a:r>
          </a:p>
          <a:p>
            <a:pPr marL="0" indent="0">
              <a:buNone/>
            </a:pPr>
            <a:r>
              <a:rPr lang="en-US" sz="2000" dirty="0">
                <a:ea typeface="Bitstream Charter"/>
                <a:cs typeface="Bitstream Charter"/>
              </a:rPr>
              <a:t>implement = </a:t>
            </a:r>
            <a:r>
              <a:rPr lang="en-US" sz="2000" dirty="0" err="1">
                <a:ea typeface="Bitstream Charter"/>
                <a:cs typeface="Bitstream Charter"/>
              </a:rPr>
              <a:t>dspy.Predict</a:t>
            </a:r>
            <a:r>
              <a:rPr lang="en-US" sz="2000" dirty="0">
                <a:ea typeface="Bitstream Charter"/>
                <a:cs typeface="Bitstream Charter"/>
              </a:rPr>
              <a:t>(Implement)</a:t>
            </a:r>
          </a:p>
          <a:p>
            <a:pPr marL="0" indent="0">
              <a:buNone/>
            </a:pPr>
            <a:r>
              <a:rPr lang="en-US" sz="2000" dirty="0">
                <a:ea typeface="Bitstream Charter"/>
                <a:cs typeface="Bitstream Charter"/>
              </a:rPr>
              <a:t>code = implement(spec=spec, plan=plan, advice=advice, attempts=attempts).code</a:t>
            </a:r>
            <a:endParaRPr lang="en-US" dirty="0"/>
          </a:p>
        </p:txBody>
      </p:sp>
      <p:sp>
        <p:nvSpPr>
          <p:cNvPr id="5" name="TextBox 4">
            <a:extLst>
              <a:ext uri="{FF2B5EF4-FFF2-40B4-BE49-F238E27FC236}">
                <a16:creationId xmlns:a16="http://schemas.microsoft.com/office/drawing/2014/main" id="{EE798FA6-509D-3D31-4B1C-E3F7BF0DD98F}"/>
              </a:ext>
            </a:extLst>
          </p:cNvPr>
          <p:cNvSpPr txBox="1"/>
          <p:nvPr/>
        </p:nvSpPr>
        <p:spPr>
          <a:xfrm>
            <a:off x="82679" y="3427826"/>
            <a:ext cx="6013321" cy="2677656"/>
          </a:xfrm>
          <a:prstGeom prst="rect">
            <a:avLst/>
          </a:prstGeom>
          <a:noFill/>
          <a:ln>
            <a:solidFill>
              <a:schemeClr val="accent1"/>
            </a:solidFill>
          </a:ln>
        </p:spPr>
        <p:txBody>
          <a:bodyPr wrap="square" rtlCol="0">
            <a:spAutoFit/>
          </a:bodyPr>
          <a:lstStyle/>
          <a:p>
            <a:r>
              <a:rPr lang="en-US" sz="1200" dirty="0"/>
              <a:t>[system]</a:t>
            </a:r>
          </a:p>
          <a:p>
            <a:r>
              <a:rPr lang="en-US" sz="1200" dirty="0"/>
              <a:t>This is a task you must complete by returning only the output. ...    ← framework-static</a:t>
            </a:r>
          </a:p>
          <a:p>
            <a:r>
              <a:rPr lang="en-US" sz="1200" dirty="0"/>
              <a:t>…</a:t>
            </a:r>
          </a:p>
          <a:p>
            <a:r>
              <a:rPr lang="en-US" sz="1200" dirty="0"/>
              <a:t>[user]</a:t>
            </a:r>
          </a:p>
          <a:p>
            <a:r>
              <a:rPr lang="en-US" sz="1200" dirty="0" err="1"/>
              <a:t>Coder.implement</a:t>
            </a:r>
            <a:r>
              <a:rPr lang="en-US" sz="1200" dirty="0"/>
              <a:t>(spec: str, plan: Plan, advice: str, attempts: list[Attempt]) -&gt; str</a:t>
            </a:r>
          </a:p>
          <a:p>
            <a:r>
              <a:rPr lang="en-US" sz="1200" dirty="0"/>
              <a:t>    --- Return the complete function from `spec` ... apply it.</a:t>
            </a:r>
          </a:p>
          <a:p>
            <a:r>
              <a:rPr lang="en-US" sz="1200" dirty="0"/>
              <a:t>    spec: str ---- The signature and docstring ...</a:t>
            </a:r>
          </a:p>
          <a:p>
            <a:r>
              <a:rPr lang="en-US" sz="1200" dirty="0"/>
              <a:t>    plan: Plan ---- ...   advice: str ---- ...   attempts: Attempt ---- ...</a:t>
            </a:r>
          </a:p>
          <a:p>
            <a:r>
              <a:rPr lang="en-US" sz="1200" dirty="0"/>
              <a:t>spec = 'def </a:t>
            </a:r>
            <a:r>
              <a:rPr lang="en-US" sz="1200" dirty="0" err="1"/>
              <a:t>has_close_elements</a:t>
            </a:r>
            <a:r>
              <a:rPr lang="en-US" sz="1200" dirty="0"/>
              <a:t>(...)...'</a:t>
            </a:r>
          </a:p>
          <a:p>
            <a:r>
              <a:rPr lang="en-US" sz="1200" dirty="0"/>
              <a:t>plan = Plan(approach=..., </a:t>
            </a:r>
            <a:r>
              <a:rPr lang="en-US" sz="1200" dirty="0" err="1"/>
              <a:t>edge_cases</a:t>
            </a:r>
            <a:r>
              <a:rPr lang="en-US" sz="1200" dirty="0"/>
              <a:t>=[...])</a:t>
            </a:r>
          </a:p>
          <a:p>
            <a:r>
              <a:rPr lang="en-US" sz="1200" dirty="0"/>
              <a:t>advice = 'fix 43'</a:t>
            </a:r>
          </a:p>
          <a:p>
            <a:r>
              <a:rPr lang="en-US" sz="1200" dirty="0"/>
              <a:t>attempts = [Attempt(function=..., code=..., passed=False, output="...</a:t>
            </a:r>
            <a:r>
              <a:rPr lang="en-US" sz="1200" dirty="0" err="1"/>
              <a:t>pytest</a:t>
            </a:r>
            <a:r>
              <a:rPr lang="en-US" sz="1200" dirty="0"/>
              <a:t>...")]</a:t>
            </a:r>
          </a:p>
          <a:p>
            <a:r>
              <a:rPr lang="en-US" sz="1200" dirty="0"/>
              <a:t>self = Coder() ---- Writes one function of the module</a:t>
            </a:r>
          </a:p>
          <a:p>
            <a:r>
              <a:rPr lang="en-US" sz="1200" dirty="0"/>
              <a:t>…[static tail]</a:t>
            </a:r>
          </a:p>
        </p:txBody>
      </p:sp>
      <p:sp>
        <p:nvSpPr>
          <p:cNvPr id="6" name="TextBox 5">
            <a:extLst>
              <a:ext uri="{FF2B5EF4-FFF2-40B4-BE49-F238E27FC236}">
                <a16:creationId xmlns:a16="http://schemas.microsoft.com/office/drawing/2014/main" id="{60120CED-BBBD-45DD-8C26-7E2CB326D471}"/>
              </a:ext>
            </a:extLst>
          </p:cNvPr>
          <p:cNvSpPr txBox="1"/>
          <p:nvPr/>
        </p:nvSpPr>
        <p:spPr>
          <a:xfrm>
            <a:off x="6246037" y="3412339"/>
            <a:ext cx="5863284" cy="2677656"/>
          </a:xfrm>
          <a:prstGeom prst="rect">
            <a:avLst/>
          </a:prstGeom>
          <a:noFill/>
          <a:ln>
            <a:solidFill>
              <a:schemeClr val="accent1"/>
            </a:solidFill>
          </a:ln>
        </p:spPr>
        <p:txBody>
          <a:bodyPr wrap="square" rtlCol="0">
            <a:spAutoFit/>
          </a:bodyPr>
          <a:lstStyle/>
          <a:p>
            <a:r>
              <a:rPr lang="en-US" sz="1200" dirty="0"/>
              <a:t>[system]  Your input fields are:</a:t>
            </a:r>
          </a:p>
          <a:p>
            <a:r>
              <a:rPr lang="en-US" sz="1200" dirty="0"/>
              <a:t>          1. `spec` (str): The signature and docstring ...</a:t>
            </a:r>
          </a:p>
          <a:p>
            <a:r>
              <a:rPr lang="en-US" sz="1200" dirty="0"/>
              <a:t>          2. `plan` (Plan): ...  3. `advice` (str): ...  4. `attempts` (list[Attempt]): ...</a:t>
            </a:r>
          </a:p>
          <a:p>
            <a:r>
              <a:rPr lang="en-US" sz="1200" dirty="0"/>
              <a:t>          Your output fields are:  1. `code` (str):</a:t>
            </a:r>
          </a:p>
          <a:p>
            <a:r>
              <a:rPr lang="en-US" sz="1200" dirty="0"/>
              <a:t>          All interactions will be structured in the following way ...</a:t>
            </a:r>
          </a:p>
          <a:p>
            <a:r>
              <a:rPr lang="en-US" sz="1200" dirty="0"/>
              <a:t>          [[ ## spec ## ]] {spec}  [[ ## plan ## ]] {plan}  [[ ## advice ## ]] {advice}</a:t>
            </a:r>
          </a:p>
          <a:p>
            <a:r>
              <a:rPr lang="en-US" sz="1200" dirty="0"/>
              <a:t>          [[ ## attempts ## ]] {attempts}  [[ ## code ## ]] {code}  [[ ## completed ## ]]</a:t>
            </a:r>
          </a:p>
          <a:p>
            <a:r>
              <a:rPr lang="en-US" sz="1200" dirty="0"/>
              <a:t>          In adhering to this structure, your objective is: Return the complete function ...</a:t>
            </a:r>
          </a:p>
          <a:p>
            <a:r>
              <a:rPr lang="en-US" sz="1200" dirty="0"/>
              <a:t>[user]    [[ ## spec ## ]]      def </a:t>
            </a:r>
            <a:r>
              <a:rPr lang="en-US" sz="1200" dirty="0" err="1"/>
              <a:t>has_close_elements</a:t>
            </a:r>
            <a:r>
              <a:rPr lang="en-US" sz="1200" dirty="0"/>
              <a:t>(...)...                  ← per-function</a:t>
            </a:r>
          </a:p>
          <a:p>
            <a:r>
              <a:rPr lang="en-US" sz="1200" dirty="0"/>
              <a:t>          [[ ## plan ## ]]      {"approach": ..., "</a:t>
            </a:r>
            <a:r>
              <a:rPr lang="en-US" sz="1200" dirty="0" err="1"/>
              <a:t>edge_cases</a:t>
            </a:r>
            <a:r>
              <a:rPr lang="en-US" sz="1200" dirty="0"/>
              <a:t>": [...]}          ← per-function</a:t>
            </a:r>
          </a:p>
          <a:p>
            <a:r>
              <a:rPr lang="en-US" sz="1200" dirty="0"/>
              <a:t>          [[ ## advice ## ]]    fix 43                                         ← per-call</a:t>
            </a:r>
          </a:p>
          <a:p>
            <a:r>
              <a:rPr lang="en-US" sz="1200" dirty="0"/>
              <a:t>          [[ ## attempts ## ]]  [{"function": ..., "code": ..., "passed": false, "output": ...}] </a:t>
            </a:r>
          </a:p>
          <a:p>
            <a:r>
              <a:rPr lang="en-US" sz="1200" dirty="0"/>
              <a:t>Respond with the corresponding output fields, starting with `[[ ## code ## ]]` ... </a:t>
            </a:r>
          </a:p>
          <a:p>
            <a:r>
              <a:rPr lang="en-US" sz="1200" dirty="0"/>
              <a:t> </a:t>
            </a:r>
            <a:r>
              <a:rPr lang="en-US" altLang="zh-CN" sz="1200" dirty="0"/>
              <a:t>[</a:t>
            </a:r>
            <a:r>
              <a:rPr lang="en-US" sz="1200" dirty="0"/>
              <a:t>framework-static tail</a:t>
            </a:r>
            <a:r>
              <a:rPr lang="en-US" altLang="zh-CN" sz="1200" dirty="0"/>
              <a:t>]</a:t>
            </a:r>
            <a:endParaRPr lang="en-US" sz="1200" dirty="0"/>
          </a:p>
        </p:txBody>
      </p:sp>
      <p:sp>
        <p:nvSpPr>
          <p:cNvPr id="7" name="TextBox 6">
            <a:extLst>
              <a:ext uri="{FF2B5EF4-FFF2-40B4-BE49-F238E27FC236}">
                <a16:creationId xmlns:a16="http://schemas.microsoft.com/office/drawing/2014/main" id="{6545EB86-EBB3-8C44-3D7E-F884124CDD6B}"/>
              </a:ext>
            </a:extLst>
          </p:cNvPr>
          <p:cNvSpPr txBox="1"/>
          <p:nvPr/>
        </p:nvSpPr>
        <p:spPr>
          <a:xfrm>
            <a:off x="236242" y="6211669"/>
            <a:ext cx="11726334" cy="646331"/>
          </a:xfrm>
          <a:prstGeom prst="rect">
            <a:avLst/>
          </a:prstGeom>
          <a:noFill/>
        </p:spPr>
        <p:txBody>
          <a:bodyPr wrap="square" rtlCol="0">
            <a:spAutoFit/>
          </a:bodyPr>
          <a:lstStyle/>
          <a:p>
            <a:r>
              <a:rPr lang="en-US" dirty="0"/>
              <a:t>LLMs declared as functions have similar inherent heterogeneity. Headers, values, schemas are ordered by compiler. They expose opportunities from exploiting such heterogeneity. </a:t>
            </a:r>
          </a:p>
        </p:txBody>
      </p:sp>
    </p:spTree>
    <p:extLst>
      <p:ext uri="{BB962C8B-B14F-4D97-AF65-F5344CB8AC3E}">
        <p14:creationId xmlns:p14="http://schemas.microsoft.com/office/powerpoint/2010/main" val="2321635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毛主席万岁">
      <a:majorFont>
        <a:latin typeface="Cambria"/>
        <a:ea typeface="宋体"/>
        <a:cs typeface=""/>
      </a:majorFont>
      <a:minorFont>
        <a:latin typeface="Cambri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毛主席万岁">
      <a:majorFont>
        <a:latin typeface="Cambria"/>
        <a:ea typeface="宋体"/>
        <a:cs typeface=""/>
      </a:majorFont>
      <a:minorFont>
        <a:latin typeface="Cambri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1106</TotalTime>
  <Words>1925</Words>
  <Application>Microsoft Office PowerPoint</Application>
  <PresentationFormat>Widescreen</PresentationFormat>
  <Paragraphs>149</Paragraphs>
  <Slides>14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Bitstream Charter</vt:lpstr>
      <vt:lpstr>Arial</vt:lpstr>
      <vt:lpstr>Cambria</vt:lpstr>
      <vt:lpstr>Office Theme</vt:lpstr>
      <vt:lpstr>Efficient execution of structured LLM agents</vt:lpstr>
      <vt:lpstr>Problem</vt:lpstr>
      <vt:lpstr>Insights</vt:lpstr>
      <vt:lpstr>Example of heterogeneity within prompt (This is a LLM callsite in code agent)</vt:lpstr>
      <vt:lpstr>Identifying heterogeneity in prompt</vt:lpstr>
      <vt:lpstr>Recover Agent Structure As time-annotated probabilistic state machine</vt:lpstr>
      <vt:lpstr>Schedule KV cache efficiently</vt:lpstr>
      <vt:lpstr>Eval</vt:lpstr>
      <vt:lpstr>Preliminary: serving transformations preserve comparable application-level task quality</vt:lpstr>
      <vt:lpstr>PowerPoint Presentation</vt:lpstr>
      <vt:lpstr>CDF for recomputed token ratio at representative concurrency</vt:lpstr>
      <vt:lpstr>PowerPoint Presentation</vt:lpstr>
      <vt:lpstr>CDF for recomputed token ratio at representative concurrency</vt:lpstr>
      <vt:lpstr>Generality: DSPy, same heterogeneity inside prompt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筱宇 马</dc:creator>
  <cp:lastModifiedBy>筱宇 马</cp:lastModifiedBy>
  <cp:revision>93</cp:revision>
  <dcterms:created xsi:type="dcterms:W3CDTF">2026-09-09T21:01:41Z</dcterms:created>
  <dcterms:modified xsi:type="dcterms:W3CDTF">2026-09-12T03:07:01Z</dcterms:modified>
</cp:coreProperties>
</file>